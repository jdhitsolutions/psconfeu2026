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97" r:id="rId1"/>
    <p:sldMasterId id="2147483695" r:id="rId2"/>
    <p:sldMasterId id="2147483684" r:id="rId3"/>
  </p:sldMasterIdLst>
  <p:notesMasterIdLst>
    <p:notesMasterId r:id="rId25"/>
  </p:notesMasterIdLst>
  <p:handoutMasterIdLst>
    <p:handoutMasterId r:id="rId26"/>
  </p:handoutMasterIdLst>
  <p:sldIdLst>
    <p:sldId id="310" r:id="rId4"/>
    <p:sldId id="312" r:id="rId5"/>
    <p:sldId id="323" r:id="rId6"/>
    <p:sldId id="314" r:id="rId7"/>
    <p:sldId id="332" r:id="rId8"/>
    <p:sldId id="315" r:id="rId9"/>
    <p:sldId id="316" r:id="rId10"/>
    <p:sldId id="317" r:id="rId11"/>
    <p:sldId id="318" r:id="rId12"/>
    <p:sldId id="319" r:id="rId13"/>
    <p:sldId id="320" r:id="rId14"/>
    <p:sldId id="324" r:id="rId15"/>
    <p:sldId id="313" r:id="rId16"/>
    <p:sldId id="321" r:id="rId17"/>
    <p:sldId id="322" r:id="rId18"/>
    <p:sldId id="326" r:id="rId19"/>
    <p:sldId id="327" r:id="rId20"/>
    <p:sldId id="325" r:id="rId21"/>
    <p:sldId id="328" r:id="rId22"/>
    <p:sldId id="329" r:id="rId23"/>
    <p:sldId id="33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296"/>
    <a:srgbClr val="000000"/>
    <a:srgbClr val="154273"/>
    <a:srgbClr val="76D2B6"/>
    <a:srgbClr val="3B2A47"/>
    <a:srgbClr val="D9B877"/>
    <a:srgbClr val="346297"/>
    <a:srgbClr val="FFFFFF"/>
    <a:srgbClr val="3B2B4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6" autoAdjust="0"/>
    <p:restoredTop sz="69093" autoAdjust="0"/>
  </p:normalViewPr>
  <p:slideViewPr>
    <p:cSldViewPr snapToGrid="0">
      <p:cViewPr varScale="1">
        <p:scale>
          <a:sx n="81" d="100"/>
          <a:sy n="81" d="100"/>
        </p:scale>
        <p:origin x="1572" y="60"/>
      </p:cViewPr>
      <p:guideLst/>
    </p:cSldViewPr>
  </p:slideViewPr>
  <p:outlineViewPr>
    <p:cViewPr>
      <p:scale>
        <a:sx n="33" d="100"/>
        <a:sy n="33" d="100"/>
      </p:scale>
      <p:origin x="0" y="-206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602" y="-1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on7/ObjectGraphTools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960B-BFCC-F13A-87FF-EA8BAA2E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32FAE-40FD-C04E-0885-36BE0F0F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D27A9-0126-C8D2-6E85-D71526D79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0: this slide will not automatically turned over. Show this BEFORE the acutal presentation starts.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F63B8-2740-F607-0C69-26D0604EA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19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are </a:t>
            </a:r>
            <a:r>
              <a:rPr lang="en-US" b="1" dirty="0"/>
              <a:t>Team Automation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 department that provides ICT</a:t>
            </a:r>
            <a:br>
              <a:rPr lang="en-US" dirty="0"/>
            </a:br>
            <a:r>
              <a:rPr lang="en-US" dirty="0"/>
              <a:t>service for the entire Ministry of</a:t>
            </a:r>
            <a:br>
              <a:rPr lang="en-US" dirty="0"/>
            </a:br>
            <a:r>
              <a:rPr lang="en-US" dirty="0"/>
              <a:t>Justice and Security of the Netherlands.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We automate all our applications with PowerShell.</a:t>
            </a:r>
          </a:p>
          <a:p>
            <a:pPr marL="0" indent="0">
              <a:buNone/>
            </a:pPr>
            <a:r>
              <a:rPr lang="en-US" dirty="0"/>
              <a:t>Besides, I like to write open-source solutions for the PowerShell community</a:t>
            </a:r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022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About Object-Graphs</a:t>
            </a:r>
          </a:p>
          <a:p>
            <a:endParaRPr lang="en-US" b="0" dirty="0"/>
          </a:p>
          <a:p>
            <a:pPr marL="0" indent="0">
              <a:buNone/>
            </a:pPr>
            <a:r>
              <a:rPr lang="en-US" dirty="0"/>
              <a:t>An object-graph is a network of embedded arrays, dictionary/objects that are linked together</a:t>
            </a:r>
            <a:endParaRPr lang="en-US" sz="1050" i="1" dirty="0"/>
          </a:p>
          <a:p>
            <a:pPr marL="0" indent="0">
              <a:buNone/>
            </a:pPr>
            <a:r>
              <a:rPr lang="en-US" dirty="0"/>
              <a:t>Object-Graphs are often retrieved from an object notation, as:</a:t>
            </a:r>
          </a:p>
          <a:p>
            <a:r>
              <a:rPr lang="en-US" dirty="0" err="1"/>
              <a:t>Json</a:t>
            </a:r>
            <a:endParaRPr lang="en-US" dirty="0"/>
          </a:p>
          <a:p>
            <a:r>
              <a:rPr lang="en-US" dirty="0" err="1"/>
              <a:t>Yaml</a:t>
            </a:r>
            <a:endParaRPr lang="en-US" dirty="0"/>
          </a:p>
          <a:p>
            <a:r>
              <a:rPr lang="en-US" dirty="0"/>
              <a:t>Psd1</a:t>
            </a:r>
          </a:p>
          <a:p>
            <a:pPr marL="0" indent="0">
              <a:buNone/>
            </a:pPr>
            <a:r>
              <a:rPr lang="en-US" dirty="0"/>
              <a:t>But could also already in-memory</a:t>
            </a:r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692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Bookstore example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Take the following object-graph from </a:t>
            </a:r>
            <a:r>
              <a:rPr lang="en-US" dirty="0" err="1"/>
              <a:t>Json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(Which</a:t>
            </a:r>
            <a:r>
              <a:rPr lang="en-US" baseline="0" dirty="0"/>
              <a:t> could be much more complex)</a:t>
            </a:r>
          </a:p>
          <a:p>
            <a:pPr marL="0" indent="0">
              <a:buNone/>
            </a:pPr>
            <a:r>
              <a:rPr lang="en-US" baseline="0" dirty="0"/>
              <a:t>Note the </a:t>
            </a:r>
            <a:r>
              <a:rPr lang="en-US" b="1" baseline="0" dirty="0"/>
              <a:t>ISBN keys</a:t>
            </a:r>
            <a:r>
              <a:rPr lang="en-US" baseline="0" dirty="0"/>
              <a:t>, and </a:t>
            </a:r>
            <a:r>
              <a:rPr lang="en-US" b="1" baseline="0" dirty="0"/>
              <a:t>PowerShell</a:t>
            </a:r>
            <a:r>
              <a:rPr lang="en-US" baseline="0" dirty="0"/>
              <a:t> book </a:t>
            </a:r>
            <a:r>
              <a:rPr lang="en-US" b="1" baseline="0" dirty="0"/>
              <a:t>title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444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Bookstore example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200" dirty="0"/>
              <a:t>As a user, I would like to change the price of the PowerShell book.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0" i="0" dirty="0"/>
              <a:t>3 times a </a:t>
            </a:r>
            <a:r>
              <a:rPr lang="en-US" b="1" dirty="0"/>
              <a:t>Get-Member</a:t>
            </a:r>
          </a:p>
          <a:p>
            <a:pPr marL="0" indent="0">
              <a:buNone/>
            </a:pPr>
            <a:r>
              <a:rPr lang="en-US" b="0" dirty="0"/>
              <a:t>And than a </a:t>
            </a:r>
            <a:r>
              <a:rPr lang="en-US" b="0" dirty="0" err="1"/>
              <a:t>foreach</a:t>
            </a:r>
            <a:r>
              <a:rPr lang="en-US" b="0" dirty="0"/>
              <a:t> loop</a:t>
            </a:r>
          </a:p>
          <a:p>
            <a:pPr marL="0" indent="0">
              <a:buNone/>
            </a:pPr>
            <a:r>
              <a:rPr lang="en-US" b="0" dirty="0"/>
              <a:t>But no results…</a:t>
            </a:r>
          </a:p>
          <a:p>
            <a:pPr marL="0" indent="0">
              <a:buNone/>
            </a:pPr>
            <a:r>
              <a:rPr lang="en-US" b="0" dirty="0"/>
              <a:t>Why?</a:t>
            </a:r>
          </a:p>
          <a:p>
            <a:pPr marL="0" indent="0">
              <a:buNone/>
            </a:pPr>
            <a:r>
              <a:rPr lang="en-US" b="0" dirty="0"/>
              <a:t>Because</a:t>
            </a:r>
            <a:r>
              <a:rPr lang="en-US" b="0" baseline="0" dirty="0"/>
              <a:t> the properties (name and values) of the books are hidden in the </a:t>
            </a:r>
            <a:r>
              <a:rPr lang="en-US" b="1" baseline="0" dirty="0"/>
              <a:t>.</a:t>
            </a:r>
            <a:r>
              <a:rPr lang="en-US" b="1" baseline="0" dirty="0" err="1"/>
              <a:t>PSObject</a:t>
            </a:r>
            <a:r>
              <a:rPr lang="en-US" b="1" baseline="0" dirty="0"/>
              <a:t> </a:t>
            </a:r>
            <a:r>
              <a:rPr lang="en-US" b="0" baseline="0" dirty="0"/>
              <a:t>property of the </a:t>
            </a:r>
            <a:r>
              <a:rPr lang="en-US" b="1" baseline="0" dirty="0" err="1"/>
              <a:t>PSCustomObject</a:t>
            </a:r>
            <a:endParaRPr lang="en-US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623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Other object-graph issues and pitfalls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800" dirty="0"/>
              <a:t>Other issues and pitfalls that you might encounter while addressing a node in an object-graph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Member-Access enumeration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Collections with a single property that suddenly unroll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Fixed size Arrays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PSCustomObjects</a:t>
            </a:r>
            <a:r>
              <a:rPr lang="en-US" sz="2800" b="1" dirty="0"/>
              <a:t> vs any Dictionaries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Cyclic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Performance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894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Featuring Object-Graph tools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 err="1"/>
              <a:t>ObjectGraphTools</a:t>
            </a:r>
            <a:r>
              <a:rPr lang="en-US" dirty="0"/>
              <a:t> Module might help you here with</a:t>
            </a:r>
          </a:p>
          <a:p>
            <a:r>
              <a:rPr lang="en-US" b="1" dirty="0"/>
              <a:t>Navigating</a:t>
            </a:r>
            <a:endParaRPr lang="en-US" dirty="0"/>
          </a:p>
          <a:p>
            <a:r>
              <a:rPr lang="en-US" dirty="0"/>
              <a:t>Easy </a:t>
            </a:r>
            <a:r>
              <a:rPr lang="en-US" b="1" dirty="0"/>
              <a:t>targeting</a:t>
            </a:r>
            <a:r>
              <a:rPr lang="en-US" dirty="0"/>
              <a:t> nodes</a:t>
            </a:r>
          </a:p>
          <a:p>
            <a:r>
              <a:rPr lang="en-US" dirty="0"/>
              <a:t>A flat </a:t>
            </a:r>
            <a:r>
              <a:rPr lang="en-US" b="1" dirty="0"/>
              <a:t>Iteration</a:t>
            </a:r>
            <a:r>
              <a:rPr lang="en-US" dirty="0"/>
              <a:t> through (all) nested nodes</a:t>
            </a:r>
          </a:p>
          <a:p>
            <a:r>
              <a:rPr lang="en-US" b="1" dirty="0"/>
              <a:t>Consistent</a:t>
            </a:r>
            <a:r>
              <a:rPr lang="en-US" dirty="0"/>
              <a:t> treatment of lists and dictionaries structures.</a:t>
            </a:r>
          </a:p>
          <a:p>
            <a:r>
              <a:rPr lang="en-US" b="1" dirty="0"/>
              <a:t>Converting to </a:t>
            </a:r>
            <a:r>
              <a:rPr lang="en-US" dirty="0"/>
              <a:t>and</a:t>
            </a:r>
            <a:r>
              <a:rPr lang="en-US" b="1" dirty="0"/>
              <a:t> from PowerShell Expressions</a:t>
            </a:r>
          </a:p>
          <a:p>
            <a:r>
              <a:rPr lang="en-US" b="1" dirty="0"/>
              <a:t>A set of cmdlets </a:t>
            </a:r>
            <a:r>
              <a:rPr lang="en-US" dirty="0"/>
              <a:t>to manipulate complex object-graphs.</a:t>
            </a:r>
            <a:endParaRPr lang="en-DE" sz="1100" dirty="0"/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832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Get-</a:t>
            </a:r>
            <a:r>
              <a:rPr lang="en-US" b="1" dirty="0" err="1"/>
              <a:t>ChildNode</a:t>
            </a:r>
            <a:endParaRPr lang="en-US" b="1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Similar </a:t>
            </a:r>
            <a:r>
              <a:rPr lang="en-US" b="1" dirty="0"/>
              <a:t>to </a:t>
            </a:r>
            <a:r>
              <a:rPr lang="en-US" b="1" dirty="0">
                <a:solidFill>
                  <a:srgbClr val="0070C0"/>
                </a:solidFill>
              </a:rPr>
              <a:t>Get-</a:t>
            </a:r>
            <a:r>
              <a:rPr lang="en-US" b="1" dirty="0" err="1">
                <a:solidFill>
                  <a:srgbClr val="0070C0"/>
                </a:solidFill>
              </a:rPr>
              <a:t>ChildItem</a:t>
            </a:r>
            <a:r>
              <a:rPr lang="en-US" b="1" dirty="0"/>
              <a:t> </a:t>
            </a:r>
            <a:r>
              <a:rPr lang="en-US" dirty="0"/>
              <a:t>for files, you can use </a:t>
            </a:r>
            <a:r>
              <a:rPr lang="en-US" b="1" dirty="0">
                <a:solidFill>
                  <a:srgbClr val="0070C0"/>
                </a:solidFill>
              </a:rPr>
              <a:t>Get-</a:t>
            </a:r>
            <a:r>
              <a:rPr lang="en-US" b="1" dirty="0" err="1">
                <a:solidFill>
                  <a:srgbClr val="0070C0"/>
                </a:solidFill>
              </a:rPr>
              <a:t>ChildNode</a:t>
            </a:r>
            <a:r>
              <a:rPr lang="en-US" dirty="0"/>
              <a:t> to list your Object-Graph properties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might do a recursive</a:t>
            </a:r>
            <a:r>
              <a:rPr lang="en-US" baseline="0" dirty="0"/>
              <a:t> search and </a:t>
            </a:r>
            <a:r>
              <a:rPr lang="en-US" dirty="0"/>
              <a:t>filter the selection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Just select leaf nodes,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</a:t>
            </a:r>
            <a:r>
              <a:rPr lang="en-US" baseline="0" dirty="0"/>
              <a:t> get the complete node object or just the contents (value) of the node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935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Get-Node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Similar to </a:t>
            </a:r>
            <a:r>
              <a:rPr lang="en-US" sz="1200" b="1" dirty="0">
                <a:solidFill>
                  <a:srgbClr val="0070C0"/>
                </a:solidFill>
              </a:rPr>
              <a:t>Get-Item</a:t>
            </a:r>
            <a:r>
              <a:rPr lang="en-US" sz="1200" dirty="0"/>
              <a:t>, you can use </a:t>
            </a:r>
            <a:r>
              <a:rPr lang="en-US" sz="1200" b="1" dirty="0">
                <a:solidFill>
                  <a:srgbClr val="0070C0"/>
                </a:solidFill>
              </a:rPr>
              <a:t>Get-Node</a:t>
            </a:r>
            <a:r>
              <a:rPr lang="en-US" sz="1200" dirty="0"/>
              <a:t> to retrieve one or more specific nodes with their properties and related methods</a:t>
            </a:r>
          </a:p>
          <a:p>
            <a:endParaRPr lang="en-US" dirty="0"/>
          </a:p>
          <a:p>
            <a:r>
              <a:rPr lang="en-US" dirty="0"/>
              <a:t>And again I might just get the value or</a:t>
            </a:r>
            <a:r>
              <a:rPr lang="en-US" baseline="0" dirty="0"/>
              <a:t> node object and continue from there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568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Major methods and properties</a:t>
            </a:r>
          </a:p>
          <a:p>
            <a:endParaRPr lang="en-US" dirty="0"/>
          </a:p>
          <a:p>
            <a:r>
              <a:rPr lang="en-US" dirty="0"/>
              <a:t>Every node will have a large variety</a:t>
            </a:r>
            <a:r>
              <a:rPr lang="en-US" baseline="0" dirty="0"/>
              <a:t> of </a:t>
            </a:r>
            <a:r>
              <a:rPr lang="en-US" b="1" baseline="0" dirty="0"/>
              <a:t>properties</a:t>
            </a:r>
            <a:r>
              <a:rPr lang="en-US" baseline="0" dirty="0"/>
              <a:t> and </a:t>
            </a:r>
            <a:r>
              <a:rPr lang="en-US" b="1" baseline="0" dirty="0"/>
              <a:t>methods</a:t>
            </a:r>
            <a:endParaRPr lang="en-US" b="1" dirty="0"/>
          </a:p>
          <a:p>
            <a:r>
              <a:rPr lang="en-US" dirty="0"/>
              <a:t>Add(): For a [</a:t>
            </a:r>
            <a:r>
              <a:rPr lang="en-US" dirty="0" err="1"/>
              <a:t>PSList</a:t>
            </a:r>
            <a:r>
              <a:rPr lang="en-US" dirty="0"/>
              <a:t>] node, it adds a node to the list, no matter it concerns a fixed array or not.</a:t>
            </a:r>
            <a:br>
              <a:rPr lang="en-US" dirty="0"/>
            </a:br>
            <a:r>
              <a:rPr lang="en-US" dirty="0"/>
              <a:t>For a [</a:t>
            </a:r>
            <a:r>
              <a:rPr lang="en-US" dirty="0" err="1"/>
              <a:t>PSMapNode</a:t>
            </a:r>
            <a:r>
              <a:rPr lang="en-US" dirty="0"/>
              <a:t>] node, it will add a node with a value. No matter it contains either a (</a:t>
            </a:r>
            <a:r>
              <a:rPr lang="en-US" dirty="0" err="1"/>
              <a:t>PSCustom</a:t>
            </a:r>
            <a:r>
              <a:rPr lang="en-US" dirty="0"/>
              <a:t>)Object or any dictionary.</a:t>
            </a:r>
          </a:p>
          <a:p>
            <a:r>
              <a:rPr lang="en-US" dirty="0"/>
              <a:t>This also counts for methods as Remove(), Contains(), </a:t>
            </a:r>
            <a:r>
              <a:rPr lang="en-US" dirty="0" err="1"/>
              <a:t>GetValue</a:t>
            </a:r>
            <a:r>
              <a:rPr lang="en-US" dirty="0"/>
              <a:t>(), </a:t>
            </a:r>
            <a:r>
              <a:rPr lang="en-US" dirty="0" err="1"/>
              <a:t>SetValue</a:t>
            </a:r>
            <a:r>
              <a:rPr lang="en-US" dirty="0"/>
              <a:t>() etc.</a:t>
            </a:r>
          </a:p>
          <a:p>
            <a:r>
              <a:rPr lang="en-US" dirty="0"/>
              <a:t>It is also allowed to add a node using the + (or +=) operator</a:t>
            </a:r>
          </a:p>
          <a:p>
            <a:r>
              <a:rPr lang="en-US" dirty="0" err="1"/>
              <a:t>ParentNode</a:t>
            </a:r>
            <a:r>
              <a:rPr lang="en-US" dirty="0"/>
              <a:t>: refers to the parent node</a:t>
            </a:r>
          </a:p>
          <a:p>
            <a:r>
              <a:rPr lang="en-US" dirty="0" err="1"/>
              <a:t>RootNode</a:t>
            </a:r>
            <a:r>
              <a:rPr lang="en-US" dirty="0"/>
              <a:t>: refers to the root node</a:t>
            </a:r>
          </a:p>
          <a:p>
            <a:r>
              <a:rPr lang="en-US" dirty="0" err="1"/>
              <a:t>ChildNodes</a:t>
            </a:r>
            <a:r>
              <a:rPr lang="en-US" dirty="0"/>
              <a:t>: a list of (direct) child nodes</a:t>
            </a:r>
          </a:p>
          <a:p>
            <a:r>
              <a:rPr lang="en-US" dirty="0" err="1"/>
              <a:t>DescendantNodes</a:t>
            </a:r>
            <a:r>
              <a:rPr lang="en-US" dirty="0"/>
              <a:t>: a list of all </a:t>
            </a:r>
            <a:r>
              <a:rPr lang="en-US" dirty="0" err="1"/>
              <a:t>descendantnodes</a:t>
            </a:r>
            <a:endParaRPr lang="en-US" dirty="0"/>
          </a:p>
          <a:p>
            <a:r>
              <a:rPr lang="en-US" dirty="0" err="1"/>
              <a:t>LeafNodes</a:t>
            </a:r>
            <a:r>
              <a:rPr lang="en-US" dirty="0"/>
              <a:t>: a list of all the leaf nodes</a:t>
            </a:r>
          </a:p>
          <a:p>
            <a:r>
              <a:rPr lang="en-US" dirty="0"/>
              <a:t>Path: the exact path to the concerned node</a:t>
            </a:r>
          </a:p>
          <a:p>
            <a:r>
              <a:rPr lang="en-US" dirty="0"/>
              <a:t>Value: the value of object embedded in the node</a:t>
            </a:r>
          </a:p>
          <a:p>
            <a:r>
              <a:rPr lang="en-US" dirty="0" err="1"/>
              <a:t>ValueType</a:t>
            </a:r>
            <a:r>
              <a:rPr lang="en-US" dirty="0"/>
              <a:t>: the type of the value embedded 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253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Extended Dot Notation (XDN)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200" dirty="0"/>
              <a:t>Besides Get-Node supports Extended Dot Notation similar to XPath:</a:t>
            </a:r>
            <a:endParaRPr lang="en-US" sz="1100" dirty="0"/>
          </a:p>
          <a:p>
            <a:endParaRPr lang="en-US" dirty="0"/>
          </a:p>
          <a:p>
            <a:r>
              <a:rPr lang="en-US" dirty="0"/>
              <a:t>Including </a:t>
            </a:r>
            <a:r>
              <a:rPr lang="en-US" b="1" dirty="0"/>
              <a:t>wildcard</a:t>
            </a:r>
            <a:r>
              <a:rPr lang="en-US" baseline="0" dirty="0"/>
              <a:t> support</a:t>
            </a:r>
          </a:p>
          <a:p>
            <a:endParaRPr lang="en-US" dirty="0"/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b="1" dirty="0">
                <a:solidFill>
                  <a:srgbClr val="14CE1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$Data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555555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B5BA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Get-Node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66666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-Path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555555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BookStore</a:t>
            </a:r>
            <a:r>
              <a:rPr lang="en-US" sz="1200" b="1" dirty="0">
                <a:solidFill>
                  <a:srgbClr val="555555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[0].Books.</a:t>
            </a:r>
            <a:r>
              <a:rPr lang="en-US" sz="1200" b="1" dirty="0">
                <a:solidFill>
                  <a:srgbClr val="555555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200" b="1" dirty="0">
                <a:solidFill>
                  <a:srgbClr val="555555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.Title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b="1" dirty="0">
                <a:solidFill>
                  <a:srgbClr val="107C1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                                      Name  Depth Value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b="1" dirty="0">
                <a:solidFill>
                  <a:srgbClr val="107C1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                                    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107C1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107C1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107C1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BookStore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[0].Books.'978-0596100094'.Title Title 5     </a:t>
            </a:r>
            <a:r>
              <a:rPr lang="en-US" sz="1200" dirty="0">
                <a:solidFill>
                  <a:srgbClr val="0598B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'Harry Potter'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BookStore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[0].Books.'978-1617296963'.Title Title 5     </a:t>
            </a:r>
            <a:r>
              <a:rPr lang="en-US" sz="1200" dirty="0">
                <a:solidFill>
                  <a:srgbClr val="0598B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'Learn PowerShell in a Month of Lunches'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b="0" dirty="0"/>
              <a:t>And </a:t>
            </a:r>
            <a:r>
              <a:rPr lang="en-US" b="1" dirty="0"/>
              <a:t>Additional operators</a:t>
            </a:r>
            <a:br>
              <a:rPr lang="en-US" dirty="0"/>
            </a:br>
            <a:r>
              <a:rPr lang="en-US" dirty="0"/>
              <a:t>A ancestor (..) selector to select the parent node or an ancestor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descendant (~) selector to select a (deep) descendant node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Offspring (~~) selector to select all (deep) offspring nodes (version 0.3.3+)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 equals (=) filter to select a (leaf) node with a specific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logical Or (/) selection list to represent a list of possible names or values</a:t>
            </a:r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886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PSNode</a:t>
            </a:r>
            <a:r>
              <a:rPr lang="en-US" b="1" dirty="0"/>
              <a:t> Example</a:t>
            </a:r>
          </a:p>
          <a:p>
            <a:endParaRPr lang="en-US" b="0" dirty="0"/>
          </a:p>
          <a:p>
            <a:r>
              <a:rPr lang="en-US" b="0" dirty="0"/>
              <a:t># give a discount of 5 dollar on each PowerShell book       </a:t>
            </a:r>
          </a:p>
          <a:p>
            <a:r>
              <a:rPr lang="en-US" b="0" dirty="0"/>
              <a:t>PS C:\Users\Gebruiker\Documents\PoshaKucha\ObjectGraphTools&gt; ($Data | Get-Node ~</a:t>
            </a:r>
            <a:r>
              <a:rPr lang="en-US" b="0" dirty="0" err="1"/>
              <a:t>Books~Title</a:t>
            </a:r>
            <a:r>
              <a:rPr lang="en-US" b="0" dirty="0"/>
              <a:t>=*PowerShell*..Price).</a:t>
            </a:r>
            <a:r>
              <a:rPr lang="en-US" b="0" dirty="0" err="1"/>
              <a:t>foreach</a:t>
            </a:r>
            <a:r>
              <a:rPr lang="en-US" b="0" dirty="0"/>
              <a:t>{ $_.Value -= 5 }          </a:t>
            </a:r>
          </a:p>
          <a:p>
            <a:r>
              <a:rPr lang="en-US" b="0" dirty="0"/>
              <a:t>PS C:\Users\Gebruiker\Documents\PoshaKucha\ObjectGraphTools&gt; $Data | </a:t>
            </a:r>
            <a:r>
              <a:rPr lang="en-US" b="0" dirty="0" err="1"/>
              <a:t>ConvertTo-Json</a:t>
            </a:r>
            <a:r>
              <a:rPr lang="en-US" b="0" dirty="0"/>
              <a:t> -Depth 9 </a:t>
            </a:r>
          </a:p>
          <a:p>
            <a:endParaRPr lang="en-US" b="0" dirty="0"/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Select the descendant Books node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From there, select the descendant Title node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With the a name like *PowerShell*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Select the parent 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Select the Price (sibling)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Subtract 5 from the current value</a:t>
            </a:r>
          </a:p>
          <a:p>
            <a:endParaRPr lang="en-DE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742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standard cmdlets don’t work well with object-graphs:</a:t>
            </a:r>
          </a:p>
          <a:p>
            <a:pPr marL="0" indent="0">
              <a:buNone/>
            </a:pPr>
            <a:r>
              <a:rPr lang="en-US" sz="1200" dirty="0"/>
              <a:t>Simply because they assume a </a:t>
            </a:r>
            <a:r>
              <a:rPr lang="en-US" sz="1200" b="1" dirty="0"/>
              <a:t>flat</a:t>
            </a:r>
            <a:r>
              <a:rPr lang="en-US" sz="1200" dirty="0"/>
              <a:t> object.</a:t>
            </a:r>
          </a:p>
          <a:p>
            <a:pPr marL="0" indent="0">
              <a:buNone/>
            </a:pPr>
            <a:r>
              <a:rPr lang="en-US" sz="1200" dirty="0"/>
              <a:t>You need to invoke them several times to get to your node.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Therefore, I have added some more </a:t>
            </a:r>
            <a:r>
              <a:rPr lang="en-US" sz="1200" b="1" dirty="0"/>
              <a:t>Object-</a:t>
            </a:r>
            <a:r>
              <a:rPr lang="en-US" sz="1200" b="1" i="1" dirty="0"/>
              <a:t>Graph</a:t>
            </a:r>
            <a:r>
              <a:rPr lang="en-US" sz="1200" dirty="0"/>
              <a:t> cmdlets based on the </a:t>
            </a:r>
            <a:r>
              <a:rPr lang="en-US" sz="1200" dirty="0" err="1">
                <a:solidFill>
                  <a:srgbClr val="346296"/>
                </a:solidFill>
              </a:rPr>
              <a:t>PSNode</a:t>
            </a:r>
            <a:r>
              <a:rPr lang="en-US" sz="1200" dirty="0"/>
              <a:t> class…</a:t>
            </a:r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984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ConvertTo</a:t>
            </a:r>
            <a:r>
              <a:rPr lang="en-US" dirty="0"/>
              <a:t>-Expression</a:t>
            </a:r>
          </a:p>
          <a:p>
            <a:endParaRPr lang="en-US" dirty="0"/>
          </a:p>
          <a:p>
            <a:r>
              <a:rPr lang="en-US" sz="1200" dirty="0" err="1"/>
              <a:t>ConvertTo</a:t>
            </a:r>
            <a:r>
              <a:rPr lang="en-US" sz="1200" dirty="0"/>
              <a:t>-Expression [-</a:t>
            </a:r>
            <a:r>
              <a:rPr lang="en-US" sz="1200" dirty="0" err="1"/>
              <a:t>InputObject</a:t>
            </a:r>
            <a:r>
              <a:rPr lang="en-US" sz="1200" dirty="0"/>
              <a:t>] &lt;Object&gt; [[-</a:t>
            </a:r>
            <a:r>
              <a:rPr lang="en-US" sz="1200" dirty="0" err="1"/>
              <a:t>LanguageMode</a:t>
            </a:r>
            <a:r>
              <a:rPr lang="en-US" sz="1200" dirty="0"/>
              <a:t>] {</a:t>
            </a:r>
            <a:r>
              <a:rPr lang="en-US" sz="1200" dirty="0" err="1"/>
              <a:t>FullLanguage</a:t>
            </a:r>
            <a:r>
              <a:rPr lang="en-US" sz="1200" dirty="0"/>
              <a:t> | </a:t>
            </a:r>
            <a:r>
              <a:rPr lang="en-US" sz="1200" dirty="0" err="1"/>
              <a:t>RestrictedLanguage</a:t>
            </a:r>
            <a:r>
              <a:rPr lang="en-US" sz="1200" dirty="0"/>
              <a:t> | </a:t>
            </a:r>
            <a:r>
              <a:rPr lang="en-US" sz="1200" dirty="0" err="1"/>
              <a:t>NoLanguage</a:t>
            </a:r>
            <a:r>
              <a:rPr lang="en-US" sz="1200" dirty="0"/>
              <a:t> | </a:t>
            </a:r>
            <a:r>
              <a:rPr lang="en-US" sz="1200" dirty="0" err="1"/>
              <a:t>ConstrainedLanguage</a:t>
            </a:r>
            <a:r>
              <a:rPr lang="en-US" sz="1200" dirty="0"/>
              <a:t>}] [[-</a:t>
            </a:r>
            <a:r>
              <a:rPr lang="en-US" sz="1200" dirty="0" err="1"/>
              <a:t>ExpandDepth</a:t>
            </a:r>
            <a:r>
              <a:rPr lang="en-US" sz="1200" dirty="0"/>
              <a:t>] &lt;Int32&gt;] [-Explicit]</a:t>
            </a:r>
          </a:p>
          <a:p>
            <a:r>
              <a:rPr lang="en-US" sz="1200" dirty="0"/>
              <a:t>                                         [-</a:t>
            </a:r>
            <a:r>
              <a:rPr lang="en-US" sz="1200" dirty="0" err="1"/>
              <a:t>FullTypeName</a:t>
            </a:r>
            <a:r>
              <a:rPr lang="en-US" sz="1200" dirty="0"/>
              <a:t>] [-</a:t>
            </a:r>
            <a:r>
              <a:rPr lang="en-US" sz="1200" dirty="0" err="1"/>
              <a:t>HighFidelity</a:t>
            </a:r>
            <a:r>
              <a:rPr lang="en-US" sz="1200" dirty="0"/>
              <a:t>] [-</a:t>
            </a:r>
            <a:r>
              <a:rPr lang="en-US" sz="1200" dirty="0" err="1"/>
              <a:t>ExpandSingleton</a:t>
            </a:r>
            <a:r>
              <a:rPr lang="en-US" sz="1200" dirty="0"/>
              <a:t>] [[-Indent] &lt;String&gt;] [[-</a:t>
            </a:r>
            <a:r>
              <a:rPr lang="en-US" sz="1200" dirty="0" err="1"/>
              <a:t>MaxDepth</a:t>
            </a:r>
            <a:r>
              <a:rPr lang="en-US" sz="1200" dirty="0"/>
              <a:t>] &lt;Int32&gt;] [&lt;</a:t>
            </a:r>
            <a:r>
              <a:rPr lang="en-US" sz="1200" dirty="0" err="1"/>
              <a:t>CommonParameters</a:t>
            </a:r>
            <a:r>
              <a:rPr lang="en-US" sz="1200" dirty="0"/>
              <a:t>&gt;]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4CE1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$Data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555555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B5BA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ConvertTo</a:t>
            </a:r>
            <a:r>
              <a:rPr lang="en-US" sz="1200" b="1" dirty="0">
                <a:solidFill>
                  <a:srgbClr val="B5BA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-Expression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4CE1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$Data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555555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B5BA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ConvertTo</a:t>
            </a:r>
            <a:r>
              <a:rPr lang="en-US" sz="1200" b="1" dirty="0">
                <a:solidFill>
                  <a:srgbClr val="B5BA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-Expression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666666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200" b="1" dirty="0" err="1">
                <a:solidFill>
                  <a:srgbClr val="666666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LanguageMode</a:t>
            </a:r>
            <a:r>
              <a:rPr lang="en-US" sz="12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555555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Constrained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System.Net.IPAddress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]'10.0.0.127' |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ConvertTo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-Expression -</a:t>
            </a:r>
            <a:r>
              <a:rPr lang="en-US" sz="12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LanguageMode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Full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ipaddress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]'10.0.0.127‘</a:t>
            </a: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2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System.Net.IPAddress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]'10.0.0.127' |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ConvertTo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-Expression -</a:t>
            </a:r>
            <a:r>
              <a:rPr lang="en-US" sz="12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LanguageMode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Full </a:t>
            </a:r>
            <a:r>
              <a:rPr lang="en-US" sz="12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2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HighFidelity</a:t>
            </a:r>
            <a:r>
              <a:rPr lang="en-US" sz="12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ipaddress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]@{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IPAddressToString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[string]'10.0.0.127'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AddressFamily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System.Net.Sockets.AddressFamily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]'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System.Net.Sockets.AddressFamily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ScopeId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$Null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IsIPv6Multicast = [bool]$False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IsIPv6LinkLocal = [bool]$False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IsIPv6SiteLocal = [bool]$False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IsIPv6Teredo = [bool]$False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IsIPv6UniqueLocal = [bool]$False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IsIPv4MappedToIPv6 = [bool]$False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Address = [long]2130706442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933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ConvertFrom</a:t>
            </a:r>
            <a:r>
              <a:rPr lang="en-US" b="1" dirty="0"/>
              <a:t>-Expression</a:t>
            </a:r>
          </a:p>
          <a:p>
            <a:endParaRPr lang="en-US" dirty="0"/>
          </a:p>
          <a:p>
            <a:r>
              <a:rPr lang="en-US" dirty="0" err="1"/>
              <a:t>ConvertFrom</a:t>
            </a:r>
            <a:r>
              <a:rPr lang="en-US" dirty="0"/>
              <a:t>-Expression [-</a:t>
            </a:r>
            <a:r>
              <a:rPr lang="en-US" dirty="0" err="1"/>
              <a:t>InputObject</a:t>
            </a:r>
            <a:r>
              <a:rPr lang="en-US" dirty="0"/>
              <a:t>] &lt;String&gt; [[-</a:t>
            </a:r>
            <a:r>
              <a:rPr lang="en-US" dirty="0" err="1"/>
              <a:t>LanguageMode</a:t>
            </a:r>
            <a:r>
              <a:rPr lang="en-US" dirty="0"/>
              <a:t>] {</a:t>
            </a:r>
            <a:r>
              <a:rPr lang="en-US" dirty="0" err="1"/>
              <a:t>FullLanguage</a:t>
            </a:r>
            <a:r>
              <a:rPr lang="en-US" dirty="0"/>
              <a:t> | </a:t>
            </a:r>
            <a:r>
              <a:rPr lang="en-US" dirty="0" err="1"/>
              <a:t>RestrictedLanguage</a:t>
            </a:r>
            <a:r>
              <a:rPr lang="en-US" dirty="0"/>
              <a:t> | </a:t>
            </a:r>
            <a:r>
              <a:rPr lang="en-US" dirty="0" err="1"/>
              <a:t>NoLanguage</a:t>
            </a:r>
            <a:r>
              <a:rPr lang="en-US" dirty="0"/>
              <a:t> | </a:t>
            </a:r>
            <a:r>
              <a:rPr lang="en-US" dirty="0" err="1"/>
              <a:t>ConstrainedLanguage</a:t>
            </a:r>
            <a:r>
              <a:rPr lang="en-US" dirty="0"/>
              <a:t>}]</a:t>
            </a:r>
            <a:br>
              <a:rPr lang="en-US" dirty="0"/>
            </a:br>
            <a:r>
              <a:rPr lang="en-US" dirty="0"/>
              <a:t>                                              [[-</a:t>
            </a:r>
            <a:r>
              <a:rPr lang="en-US" dirty="0" err="1"/>
              <a:t>ListAs</a:t>
            </a:r>
            <a:r>
              <a:rPr lang="en-US" dirty="0"/>
              <a:t>] &lt;Object&gt;] [[-</a:t>
            </a:r>
            <a:r>
              <a:rPr lang="en-US" dirty="0" err="1"/>
              <a:t>MapAs</a:t>
            </a:r>
            <a:r>
              <a:rPr lang="en-US" dirty="0"/>
              <a:t>] &lt;Object&gt;] [&lt;</a:t>
            </a:r>
            <a:r>
              <a:rPr lang="en-US" dirty="0" err="1"/>
              <a:t>CommonParameters</a:t>
            </a:r>
            <a:r>
              <a:rPr lang="en-US" dirty="0"/>
              <a:t>&gt;]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Serializes an object to a PowerShell expression</a:t>
            </a:r>
          </a:p>
          <a:p>
            <a:endParaRPr lang="en-US" dirty="0"/>
          </a:p>
          <a:p>
            <a:r>
              <a:rPr lang="en-US" dirty="0"/>
              <a:t>The Import-</a:t>
            </a:r>
            <a:r>
              <a:rPr lang="en-US" dirty="0" err="1"/>
              <a:t>ObjectGraph</a:t>
            </a:r>
            <a:r>
              <a:rPr lang="en-US" dirty="0"/>
              <a:t> cmdlet is based on </a:t>
            </a:r>
            <a:r>
              <a:rPr lang="en-US" dirty="0" err="1"/>
              <a:t>ConvertTFrom</a:t>
            </a:r>
            <a:r>
              <a:rPr lang="en-US" dirty="0"/>
              <a:t>-Expression cmdlet and has similar parameters. Both cmdlets parsing the content rather than invoking (or dot-sourcing) it.</a:t>
            </a:r>
            <a:br>
              <a:rPr lang="en-US" dirty="0"/>
            </a:br>
            <a:r>
              <a:rPr lang="en-US" dirty="0"/>
              <a:t>The difference with Import-</a:t>
            </a:r>
            <a:r>
              <a:rPr lang="en-US" dirty="0" err="1"/>
              <a:t>PowerShellDataFile</a:t>
            </a:r>
            <a:r>
              <a:rPr lang="en-US" dirty="0"/>
              <a:t> is that it can convert and constrain the collection types (see also Copy-</a:t>
            </a:r>
            <a:r>
              <a:rPr lang="en-US" dirty="0" err="1"/>
              <a:t>ObjectGraph</a:t>
            </a:r>
            <a:r>
              <a:rPr lang="en-US" dirty="0"/>
              <a:t>).</a:t>
            </a:r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990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Compare-</a:t>
            </a:r>
            <a:r>
              <a:rPr lang="en-US" b="1" dirty="0" err="1"/>
              <a:t>ObjectGraph</a:t>
            </a:r>
            <a:endParaRPr lang="en-US" b="1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Recursively compare all the nodes in an object-graph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200" dirty="0"/>
              <a:t>It supports a loosely typed collection structure, but could also do a strict compare.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621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Merge-</a:t>
            </a:r>
            <a:r>
              <a:rPr lang="en-US" b="1" dirty="0" err="1"/>
              <a:t>ObjectGraph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Recursively merge all the nodes in an object-graph</a:t>
            </a:r>
          </a:p>
          <a:p>
            <a:r>
              <a:rPr lang="en-US" dirty="0"/>
              <a:t>using a specific property as primary key</a:t>
            </a:r>
          </a:p>
          <a:p>
            <a:r>
              <a:rPr lang="en-US" dirty="0"/>
              <a:t>General treatment of lists and dictionaries/</a:t>
            </a:r>
            <a:r>
              <a:rPr lang="en-US" dirty="0" err="1"/>
              <a:t>PSCustomObject</a:t>
            </a:r>
            <a:r>
              <a:rPr lang="en-US" dirty="0"/>
              <a:t> structures.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126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dirty="0"/>
              <a:t>Sort-</a:t>
            </a:r>
            <a:r>
              <a:rPr lang="en-US" sz="2800" b="1" dirty="0" err="1"/>
              <a:t>ObjectGraph</a:t>
            </a:r>
            <a:br>
              <a:rPr lang="en-US" sz="2800" dirty="0"/>
            </a:br>
            <a:r>
              <a:rPr lang="en-US" sz="2800" dirty="0"/>
              <a:t>Recursively sorts all the nodes in an object-graph</a:t>
            </a:r>
          </a:p>
          <a:p>
            <a:pPr lvl="1"/>
            <a:r>
              <a:rPr lang="en-US" sz="2400" dirty="0"/>
              <a:t>Including primary key support</a:t>
            </a:r>
          </a:p>
          <a:p>
            <a:r>
              <a:rPr lang="en-US" sz="2800" b="1" dirty="0"/>
              <a:t>Copy-</a:t>
            </a:r>
            <a:r>
              <a:rPr lang="en-US" sz="2800" b="1" dirty="0" err="1"/>
              <a:t>ObjectGraph</a:t>
            </a:r>
            <a:br>
              <a:rPr lang="en-US" sz="2800" dirty="0"/>
            </a:br>
            <a:r>
              <a:rPr lang="en-US" sz="2800" dirty="0"/>
              <a:t>Recursively (deep) copies all the nodes in an object-graph</a:t>
            </a:r>
          </a:p>
          <a:p>
            <a:pPr lvl="1"/>
            <a:r>
              <a:rPr lang="en-US" sz="2400" dirty="0"/>
              <a:t>With the ability to change your array/list types</a:t>
            </a:r>
            <a:br>
              <a:rPr lang="en-US" sz="2400" dirty="0"/>
            </a:br>
            <a:r>
              <a:rPr lang="en-US" sz="2400" dirty="0"/>
              <a:t>and dictionary/(</a:t>
            </a:r>
            <a:r>
              <a:rPr lang="en-US" sz="2400" dirty="0" err="1"/>
              <a:t>PSCustom</a:t>
            </a:r>
            <a:r>
              <a:rPr lang="en-US" sz="2400" dirty="0"/>
              <a:t>)Object types</a:t>
            </a:r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988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Test-</a:t>
            </a:r>
            <a:r>
              <a:rPr lang="en-US" b="1" dirty="0" err="1"/>
              <a:t>ObjectGraph</a:t>
            </a:r>
            <a:r>
              <a:rPr lang="en-US" b="1" dirty="0"/>
              <a:t> </a:t>
            </a:r>
            <a:r>
              <a:rPr lang="en-US" sz="1200" b="1" dirty="0"/>
              <a:t>(version 0.3.5-preview)</a:t>
            </a:r>
          </a:p>
          <a:p>
            <a:pPr marL="0" indent="0">
              <a:buNone/>
            </a:pPr>
            <a:r>
              <a:rPr lang="en-US" dirty="0"/>
              <a:t>Test an object-graph independent of any notation and is purely object based.</a:t>
            </a:r>
          </a:p>
          <a:p>
            <a:pPr marL="0" indent="0">
              <a:buNone/>
            </a:pPr>
            <a:r>
              <a:rPr lang="en-US" dirty="0"/>
              <a:t>It also supports a loosely typed collection structure for the input object and the schema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0599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  <a:p>
            <a:endParaRPr lang="en-US" dirty="0"/>
          </a:p>
          <a:p>
            <a:r>
              <a:rPr lang="en-US" sz="2800" dirty="0"/>
              <a:t>The </a:t>
            </a:r>
            <a:r>
              <a:rPr lang="en-US" sz="2800" dirty="0" err="1"/>
              <a:t>ObjectGraphTools</a:t>
            </a:r>
            <a:r>
              <a:rPr lang="en-US" sz="2800" dirty="0"/>
              <a:t> module is available from the </a:t>
            </a:r>
            <a:r>
              <a:rPr lang="en-US" sz="2800" dirty="0">
                <a:solidFill>
                  <a:srgbClr val="0070C0"/>
                </a:solidFill>
              </a:rPr>
              <a:t>GitHub</a:t>
            </a:r>
            <a:r>
              <a:rPr lang="en-US" sz="2800" dirty="0"/>
              <a:t> at:</a:t>
            </a:r>
          </a:p>
          <a:p>
            <a:pPr marL="457200" lvl="1" indent="0">
              <a:buNone/>
            </a:pPr>
            <a:r>
              <a:rPr lang="en-US" sz="2400" dirty="0">
                <a:hlinkClick r:id="rId3"/>
              </a:rPr>
              <a:t>https://github.com/iRon7/ObjectGraphTools</a:t>
            </a:r>
            <a:endParaRPr lang="en-US" sz="24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And from the </a:t>
            </a:r>
            <a:r>
              <a:rPr lang="en-US" sz="2800" dirty="0">
                <a:solidFill>
                  <a:srgbClr val="0070C0"/>
                </a:solidFill>
              </a:rPr>
              <a:t>PowerShell Gallery </a:t>
            </a:r>
            <a:r>
              <a:rPr lang="en-US" sz="2800" dirty="0"/>
              <a:t>at:</a:t>
            </a:r>
          </a:p>
          <a:p>
            <a:pPr marL="457200" lvl="1" indent="0">
              <a:buNone/>
            </a:pPr>
            <a:r>
              <a:rPr lang="en-US" sz="2400" dirty="0"/>
              <a:t>https://www.powershellgallery.com/packages/ObjectGraphTools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You can install it directly from the PowerShell console via the </a:t>
            </a:r>
            <a:r>
              <a:rPr lang="en-US" sz="2800" dirty="0" err="1"/>
              <a:t>ObjectGraphTools</a:t>
            </a:r>
            <a:r>
              <a:rPr lang="en-US" sz="2800" dirty="0"/>
              <a:t> </a:t>
            </a:r>
            <a:r>
              <a:rPr lang="en-US" sz="2800" dirty="0" err="1"/>
              <a:t>NuGet</a:t>
            </a:r>
            <a:r>
              <a:rPr lang="en-US" sz="2800" dirty="0"/>
              <a:t> Page using the following command:</a:t>
            </a:r>
          </a:p>
          <a:p>
            <a:pPr marL="0" indent="0">
              <a:buNone/>
            </a:pPr>
            <a:endParaRPr lang="en-US" sz="2800" dirty="0"/>
          </a:p>
          <a:p>
            <a:pPr marL="914400" lvl="2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Install-Module -Name </a:t>
            </a:r>
            <a:r>
              <a:rPr lang="en-US" sz="2400" dirty="0" err="1">
                <a:solidFill>
                  <a:srgbClr val="0070C0"/>
                </a:solidFill>
              </a:rPr>
              <a:t>ObjectGraphTools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693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Q&amp;A’s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PoshaKucha’s</a:t>
            </a:r>
            <a:r>
              <a:rPr lang="en-US" dirty="0"/>
              <a:t> do not have an question and answer session but if you do have any question or like to challenge this solution: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Please, don’t hesitate to approach me here or via the issues tab of the concerned GitHub repository.</a:t>
            </a:r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9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hyperlink" Target="https://www.linkedin.com/in/iron7" TargetMode="Externa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8.xml"/><Relationship Id="rId21" Type="http://schemas.openxmlformats.org/officeDocument/2006/relationships/image" Target="../media/image7.svg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.png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.sv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8.svg"/><Relationship Id="rId10" Type="http://schemas.openxmlformats.org/officeDocument/2006/relationships/slideLayout" Target="../slideLayouts/slideLayout15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pic>
        <p:nvPicPr>
          <p:cNvPr id="2" name="Image 1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EC42AD5F-B6B5-8DD5-EE15-B684945B57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475" y="7036060"/>
            <a:ext cx="342783" cy="3507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58BDD72-13E1-4604-4FCB-EEE5920FF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6441D7-7489-D337-4AC4-6B48BB130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0F21527-BE75-4B12-2B2C-320F9FE4A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0092" y="7015702"/>
            <a:ext cx="565019" cy="565019"/>
          </a:xfrm>
          <a:prstGeom prst="rect">
            <a:avLst/>
          </a:prstGeom>
        </p:spPr>
      </p:pic>
      <p:pic>
        <p:nvPicPr>
          <p:cNvPr id="8" name="Grafik 7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5DC0A073-DDE4-2D81-225C-AA65C350E82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0B8DC59-A021-243B-77D7-2B3D0A98464E}"/>
              </a:ext>
            </a:extLst>
          </p:cNvPr>
          <p:cNvSpPr txBox="1"/>
          <p:nvPr userDrawn="1"/>
        </p:nvSpPr>
        <p:spPr>
          <a:xfrm>
            <a:off x="5787896" y="7738421"/>
            <a:ext cx="2949048" cy="369332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346297"/>
                </a:solidFill>
              </a:rPr>
              <a:t>Choose your favorite service!</a:t>
            </a:r>
            <a:endParaRPr lang="en-DE">
              <a:solidFill>
                <a:srgbClr val="346297"/>
              </a:solidFill>
            </a:endParaRP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7FB76F69-B688-7DF6-E76B-4171727289A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rgbClr val="346296"/>
                </a:solidFill>
              </a:rPr>
              <a:t>@yourfavoritesocmedhandle</a:t>
            </a:r>
          </a:p>
          <a:p>
            <a:endParaRPr lang="en-GB" b="1">
              <a:solidFill>
                <a:srgbClr val="346296"/>
              </a:solidFill>
            </a:endParaRP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AF9BB9B8-701A-EB3C-E695-50E2B91A30FB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462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672DAEE1-9F10-79C6-99E9-BDFBC3D17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</a:t>
            </a:r>
            <a:r>
              <a:rPr lang="en-US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/>
              </a:rPr>
              <a:t>linkedin.com/in/iron7</a:t>
            </a:r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11" name="Image 10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8F580B04-0A71-F403-17DA-BF3F734827E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217" y="7122833"/>
            <a:ext cx="342783" cy="350754"/>
          </a:xfrm>
          <a:prstGeom prst="rect">
            <a:avLst/>
          </a:prstGeom>
        </p:spPr>
      </p:pic>
      <p:pic>
        <p:nvPicPr>
          <p:cNvPr id="4" name="Graphique 7">
            <a:extLst>
              <a:ext uri="{FF2B5EF4-FFF2-40B4-BE49-F238E27FC236}">
                <a16:creationId xmlns:a16="http://schemas.microsoft.com/office/drawing/2014/main" id="{4AFD84EB-825F-DBF4-B9C0-420AB1263E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46DF7CA-8F28-2C27-EBC8-C589FBC981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1201337-FFF7-4755-AEAF-7F9345F4D0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C2720D7-9A93-09EA-D3E2-FDFCD95BAB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0092" y="7015702"/>
            <a:ext cx="565019" cy="565019"/>
          </a:xfrm>
          <a:prstGeom prst="rect">
            <a:avLst/>
          </a:prstGeom>
        </p:spPr>
      </p:pic>
      <p:pic>
        <p:nvPicPr>
          <p:cNvPr id="17" name="Grafik 16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F1EB9056-7487-39DC-8BDE-294705E52418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pic>
        <p:nvPicPr>
          <p:cNvPr id="6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5D91D13-F8E6-A494-85EE-0DDFAA15EC73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sp>
        <p:nvSpPr>
          <p:cNvPr id="9" name="Rectangle 17">
            <a:extLst>
              <a:ext uri="{FF2B5EF4-FFF2-40B4-BE49-F238E27FC236}">
                <a16:creationId xmlns:a16="http://schemas.microsoft.com/office/drawing/2014/main" id="{73CD3264-7B16-365E-3DEE-E7794273974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462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03215578-9755-430C-70D7-267941241E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on7/ObjectGraphTool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A18A-3A66-5913-7AF0-23FFEACF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3605107-04B6-810E-29BC-B3881739DF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en-GB" sz="4000" dirty="0"/>
              <a:t>Object-Graph Tools / Ronald Bode (iRon7)</a:t>
            </a:r>
            <a:endParaRPr lang="en-DE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627D4D1-E365-89E0-56F5-889712402ABA}"/>
              </a:ext>
            </a:extLst>
          </p:cNvPr>
          <p:cNvSpPr/>
          <p:nvPr/>
        </p:nvSpPr>
        <p:spPr>
          <a:xfrm>
            <a:off x="1089891" y="1810327"/>
            <a:ext cx="9873673" cy="3620655"/>
          </a:xfrm>
          <a:prstGeom prst="round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930" y="1810327"/>
            <a:ext cx="5023539" cy="1841152"/>
          </a:xfrm>
          <a:prstGeom prst="rect">
            <a:avLst/>
          </a:prstGeom>
        </p:spPr>
      </p:pic>
      <p:sp>
        <p:nvSpPr>
          <p:cNvPr id="11" name="Tekstvak 10"/>
          <p:cNvSpPr txBox="1"/>
          <p:nvPr/>
        </p:nvSpPr>
        <p:spPr>
          <a:xfrm>
            <a:off x="8309380" y="2036067"/>
            <a:ext cx="243296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154273"/>
                </a:solidFill>
              </a:rPr>
              <a:t>Translation:</a:t>
            </a:r>
            <a:br>
              <a:rPr lang="en-US" sz="1400" dirty="0">
                <a:solidFill>
                  <a:srgbClr val="154273"/>
                </a:solidFill>
              </a:rPr>
            </a:br>
            <a:r>
              <a:rPr lang="en-US" sz="1400" b="1" dirty="0">
                <a:solidFill>
                  <a:srgbClr val="154273"/>
                </a:solidFill>
              </a:rPr>
              <a:t>Judicial IT Organization</a:t>
            </a:r>
          </a:p>
          <a:p>
            <a:r>
              <a:rPr lang="en-US" sz="1400" dirty="0">
                <a:solidFill>
                  <a:srgbClr val="154273"/>
                </a:solidFill>
              </a:rPr>
              <a:t>Ministry of Justice and Security</a:t>
            </a:r>
          </a:p>
        </p:txBody>
      </p:sp>
      <p:sp>
        <p:nvSpPr>
          <p:cNvPr id="13" name="Titel 3">
            <a:extLst>
              <a:ext uri="{FF2B5EF4-FFF2-40B4-BE49-F238E27FC236}">
                <a16:creationId xmlns:a16="http://schemas.microsoft.com/office/drawing/2014/main" id="{63605107-04B6-810E-29BC-B3881739DF04}"/>
              </a:ext>
            </a:extLst>
          </p:cNvPr>
          <p:cNvSpPr txBox="1">
            <a:spLocks/>
          </p:cNvSpPr>
          <p:nvPr/>
        </p:nvSpPr>
        <p:spPr>
          <a:xfrm>
            <a:off x="3637352" y="3878449"/>
            <a:ext cx="44766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solidFill>
                  <a:srgbClr val="154273"/>
                </a:solidFill>
              </a:rPr>
              <a:t>Team “Automation”</a:t>
            </a:r>
            <a:endParaRPr lang="en-DE" dirty="0">
              <a:solidFill>
                <a:srgbClr val="1542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400622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847" y="-442832"/>
            <a:ext cx="3404563" cy="255075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420" y="365125"/>
            <a:ext cx="7908060" cy="1325563"/>
          </a:xfrm>
        </p:spPr>
        <p:txBody>
          <a:bodyPr/>
          <a:lstStyle/>
          <a:p>
            <a:r>
              <a:rPr lang="en-US" b="0" dirty="0"/>
              <a:t>We are</a:t>
            </a:r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7204"/>
            <a:ext cx="1377226" cy="1373484"/>
          </a:xfrm>
          <a:prstGeom prst="rect">
            <a:avLst/>
          </a:prstGeom>
        </p:spPr>
      </p:pic>
      <p:sp>
        <p:nvSpPr>
          <p:cNvPr id="14" name="Rechteck: abgerundete Ecken 4">
            <a:extLst>
              <a:ext uri="{FF2B5EF4-FFF2-40B4-BE49-F238E27FC236}">
                <a16:creationId xmlns:a16="http://schemas.microsoft.com/office/drawing/2014/main" id="{A627D4D1-E365-89E0-56F5-889712402ABA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ound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n-US" dirty="0"/>
              <a:t>A department that provides ICT</a:t>
            </a:r>
            <a:br>
              <a:rPr lang="en-US" dirty="0"/>
            </a:br>
            <a:r>
              <a:rPr lang="en-US" dirty="0"/>
              <a:t>service for the entire Ministry of</a:t>
            </a:r>
            <a:br>
              <a:rPr lang="en-US" dirty="0"/>
            </a:br>
            <a:r>
              <a:rPr lang="en-US" dirty="0"/>
              <a:t>Justice and Security of the Netherlands.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We automate all our applications with PowerShell.</a:t>
            </a:r>
          </a:p>
          <a:p>
            <a:pPr marL="0" indent="0">
              <a:buNone/>
            </a:pPr>
            <a:r>
              <a:rPr lang="en-US" dirty="0"/>
              <a:t>Besides, I like to write open-source solutions for the PowerShell community</a:t>
            </a:r>
          </a:p>
        </p:txBody>
      </p:sp>
      <p:pic>
        <p:nvPicPr>
          <p:cNvPr id="16" name="Afbeelding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410" y="1830569"/>
            <a:ext cx="3123141" cy="11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86115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420" y="365125"/>
            <a:ext cx="7908060" cy="1325563"/>
          </a:xfrm>
        </p:spPr>
        <p:txBody>
          <a:bodyPr/>
          <a:lstStyle/>
          <a:p>
            <a:r>
              <a:rPr lang="en-US" b="0" dirty="0"/>
              <a:t>About Object-Graphs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ABFBD8-D45D-C9C1-C74C-4AD690148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An object-graph is a network of embedded arrays, dictionary/objects that are linked together</a:t>
            </a:r>
            <a:endParaRPr lang="en-US" sz="2600" i="1" dirty="0"/>
          </a:p>
          <a:p>
            <a:pPr marL="0" indent="0">
              <a:buNone/>
            </a:pPr>
            <a:r>
              <a:rPr lang="en-US" dirty="0"/>
              <a:t>Object-Graphs are often retrieved from an object notation, as:</a:t>
            </a:r>
          </a:p>
          <a:p>
            <a:r>
              <a:rPr lang="en-US" dirty="0" err="1"/>
              <a:t>Json</a:t>
            </a:r>
            <a:endParaRPr lang="en-US" dirty="0"/>
          </a:p>
          <a:p>
            <a:r>
              <a:rPr lang="en-US" dirty="0" err="1"/>
              <a:t>Yaml</a:t>
            </a:r>
            <a:endParaRPr lang="en-US" dirty="0"/>
          </a:p>
          <a:p>
            <a:r>
              <a:rPr lang="en-US" dirty="0"/>
              <a:t>Psd1</a:t>
            </a:r>
          </a:p>
          <a:p>
            <a:pPr marL="0" indent="0">
              <a:buNone/>
            </a:pPr>
            <a:r>
              <a:rPr lang="en-US" dirty="0"/>
              <a:t>But could also already in-memory</a:t>
            </a:r>
          </a:p>
          <a:p>
            <a:pPr marL="0" indent="0">
              <a:buNone/>
            </a:pPr>
            <a:endParaRPr lang="en-DE" sz="3200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204"/>
            <a:ext cx="1377226" cy="137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74591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Bookstore example</a:t>
            </a:r>
            <a:br>
              <a:rPr lang="en-US" dirty="0"/>
            </a:br>
            <a:endParaRPr lang="en-DE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Take the following object-graph from retrieved </a:t>
            </a:r>
            <a:r>
              <a:rPr lang="en-US" dirty="0" err="1"/>
              <a:t>Json</a:t>
            </a:r>
            <a:r>
              <a:rPr lang="en-US" dirty="0"/>
              <a:t>:</a:t>
            </a:r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07591"/>
            <a:ext cx="7812831" cy="349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2448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a book</a:t>
            </a:r>
            <a:br>
              <a:rPr lang="en-US" dirty="0"/>
            </a:br>
            <a:endParaRPr lang="en-DE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4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Tijdelijke aanduiding voor inhoud 11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85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As a user, I would like to change the price of the PowerShell book.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problem: </a:t>
            </a:r>
            <a:br>
              <a:rPr lang="en-US" sz="2800" dirty="0"/>
            </a:br>
            <a:r>
              <a:rPr lang="en-US" sz="2800" dirty="0"/>
              <a:t>3x times </a:t>
            </a:r>
            <a:r>
              <a:rPr lang="en-US" sz="2800" dirty="0">
                <a:solidFill>
                  <a:srgbClr val="346296"/>
                </a:solidFill>
              </a:rPr>
              <a:t>Get-Member</a:t>
            </a:r>
            <a:br>
              <a:rPr lang="en-US" sz="2800" dirty="0">
                <a:solidFill>
                  <a:srgbClr val="346296"/>
                </a:solidFill>
              </a:rPr>
            </a:br>
            <a:r>
              <a:rPr lang="en-US" sz="2800" dirty="0"/>
              <a:t>and no results for the </a:t>
            </a:r>
            <a:r>
              <a:rPr lang="en-US" sz="2800" dirty="0" err="1">
                <a:solidFill>
                  <a:srgbClr val="346296"/>
                </a:solidFill>
              </a:rPr>
              <a:t>ForEach</a:t>
            </a:r>
            <a:r>
              <a:rPr lang="en-US" sz="2800" dirty="0"/>
              <a:t>…</a:t>
            </a:r>
            <a:br>
              <a:rPr lang="en-US" sz="2800" dirty="0"/>
            </a:br>
            <a:r>
              <a:rPr lang="en-US" sz="2800" b="1" dirty="0"/>
              <a:t>Nodes are difficult to find and expensive to target.</a:t>
            </a:r>
            <a:r>
              <a:rPr lang="en-US" b="1" dirty="0"/>
              <a:t> </a:t>
            </a:r>
          </a:p>
          <a:p>
            <a:endParaRPr lang="en-US" dirty="0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980" y="2322767"/>
            <a:ext cx="6096528" cy="3176291"/>
          </a:xfrm>
          <a:prstGeom prst="rect">
            <a:avLst/>
          </a:prstGeom>
        </p:spPr>
      </p:pic>
      <p:pic>
        <p:nvPicPr>
          <p:cNvPr id="3" name="Afbeeld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78" y="2457652"/>
            <a:ext cx="6844802" cy="156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10218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object-graph issues</a:t>
            </a:r>
            <a:br>
              <a:rPr lang="en-US" dirty="0"/>
            </a:br>
            <a:endParaRPr lang="en-DE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5AABFBD8-D45D-C9C1-C74C-4AD69014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57" y="1841157"/>
            <a:ext cx="10696224" cy="42973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Other issues and pitfalls that you might encounter while addressing a node in an object-graph</a:t>
            </a:r>
          </a:p>
          <a:p>
            <a:r>
              <a:rPr lang="en-US" sz="2800" b="1" dirty="0"/>
              <a:t>Member-Access enumeration</a:t>
            </a:r>
          </a:p>
          <a:p>
            <a:r>
              <a:rPr lang="en-US" sz="2800" b="1" dirty="0"/>
              <a:t>Collections with a single property that suddenly unroll</a:t>
            </a:r>
            <a:endParaRPr lang="en-US" sz="2800" dirty="0"/>
          </a:p>
          <a:p>
            <a:r>
              <a:rPr lang="en-US" sz="2800" b="1" dirty="0"/>
              <a:t>Fixed size Arrays</a:t>
            </a:r>
          </a:p>
          <a:p>
            <a:r>
              <a:rPr lang="en-US" sz="2800" b="1" dirty="0" err="1"/>
              <a:t>PSCustomObjects</a:t>
            </a:r>
            <a:r>
              <a:rPr lang="en-US" sz="2800" b="1" dirty="0"/>
              <a:t> vs any Dictionaries</a:t>
            </a:r>
          </a:p>
          <a:p>
            <a:r>
              <a:rPr lang="en-US" sz="2800" b="1" dirty="0"/>
              <a:t>Cyclic properties</a:t>
            </a:r>
          </a:p>
          <a:p>
            <a:r>
              <a:rPr lang="en-US" sz="2800" b="1" dirty="0"/>
              <a:t>Performance</a:t>
            </a:r>
            <a:br>
              <a:rPr lang="en-US" sz="2800" dirty="0"/>
            </a:br>
            <a:endParaRPr lang="en-DE" sz="3200" dirty="0"/>
          </a:p>
        </p:txBody>
      </p:sp>
    </p:spTree>
    <p:extLst>
      <p:ext uri="{BB962C8B-B14F-4D97-AF65-F5344CB8AC3E}">
        <p14:creationId xmlns:p14="http://schemas.microsoft.com/office/powerpoint/2010/main" val="4118896111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Featuring Object-Graph tools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ABFBD8-D45D-C9C1-C74C-4AD69014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173"/>
            <a:ext cx="10505303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 err="1"/>
              <a:t>ObjectGraphTools</a:t>
            </a:r>
            <a:r>
              <a:rPr lang="en-US" dirty="0"/>
              <a:t> Module might help you here with</a:t>
            </a:r>
          </a:p>
          <a:p>
            <a:r>
              <a:rPr lang="en-US" b="1" dirty="0"/>
              <a:t>Navigating</a:t>
            </a:r>
            <a:endParaRPr lang="en-US" dirty="0"/>
          </a:p>
          <a:p>
            <a:r>
              <a:rPr lang="en-US" dirty="0"/>
              <a:t>Easy </a:t>
            </a:r>
            <a:r>
              <a:rPr lang="en-US" b="1" dirty="0"/>
              <a:t>targeting</a:t>
            </a:r>
            <a:r>
              <a:rPr lang="en-US" dirty="0"/>
              <a:t> nodes</a:t>
            </a:r>
          </a:p>
          <a:p>
            <a:r>
              <a:rPr lang="en-US" dirty="0"/>
              <a:t>A flat </a:t>
            </a:r>
            <a:r>
              <a:rPr lang="en-US" b="1" dirty="0"/>
              <a:t>Iteration</a:t>
            </a:r>
            <a:r>
              <a:rPr lang="en-US" dirty="0"/>
              <a:t> through (all) nested nodes</a:t>
            </a:r>
          </a:p>
          <a:p>
            <a:r>
              <a:rPr lang="en-US" b="1" dirty="0"/>
              <a:t>Consistent</a:t>
            </a:r>
            <a:r>
              <a:rPr lang="en-US" dirty="0"/>
              <a:t> treatment of lists and dictionaries structures.</a:t>
            </a:r>
          </a:p>
          <a:p>
            <a:r>
              <a:rPr lang="en-US" b="1" dirty="0"/>
              <a:t>Converting to </a:t>
            </a:r>
            <a:r>
              <a:rPr lang="en-US" dirty="0"/>
              <a:t>and</a:t>
            </a:r>
            <a:r>
              <a:rPr lang="en-US" b="1" dirty="0"/>
              <a:t> from PowerShell Expressions</a:t>
            </a:r>
          </a:p>
          <a:p>
            <a:r>
              <a:rPr lang="en-US" b="1" dirty="0"/>
              <a:t>A set of cmdlets </a:t>
            </a:r>
            <a:r>
              <a:rPr lang="en-US" dirty="0"/>
              <a:t>to manipulate complex object-graphs.</a:t>
            </a:r>
            <a:endParaRPr lang="en-DE" sz="3200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6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138476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Get-</a:t>
            </a:r>
            <a:r>
              <a:rPr lang="en-US" dirty="0" err="1"/>
              <a:t>ChildNode</a:t>
            </a:r>
            <a:endParaRPr lang="en-DE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7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Similar to </a:t>
            </a:r>
            <a:r>
              <a:rPr lang="en-US" b="1" dirty="0">
                <a:solidFill>
                  <a:srgbClr val="0070C0"/>
                </a:solidFill>
              </a:rPr>
              <a:t>Get-</a:t>
            </a:r>
            <a:r>
              <a:rPr lang="en-US" b="1" dirty="0" err="1">
                <a:solidFill>
                  <a:srgbClr val="0070C0"/>
                </a:solidFill>
              </a:rPr>
              <a:t>ChildItem</a:t>
            </a:r>
            <a:r>
              <a:rPr lang="en-US" b="1" dirty="0"/>
              <a:t> </a:t>
            </a:r>
            <a:r>
              <a:rPr lang="en-US" dirty="0"/>
              <a:t>for files, you can use </a:t>
            </a:r>
            <a:r>
              <a:rPr lang="en-US" b="1" dirty="0">
                <a:solidFill>
                  <a:srgbClr val="0070C0"/>
                </a:solidFill>
              </a:rPr>
              <a:t>Get-</a:t>
            </a:r>
            <a:r>
              <a:rPr lang="en-US" b="1" dirty="0" err="1">
                <a:solidFill>
                  <a:srgbClr val="0070C0"/>
                </a:solidFill>
              </a:rPr>
              <a:t>ChildNode</a:t>
            </a:r>
            <a:r>
              <a:rPr lang="en-US" dirty="0"/>
              <a:t> to list your Object-Graph properties</a:t>
            </a:r>
          </a:p>
          <a:p>
            <a:endParaRPr lang="en-US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15793"/>
            <a:ext cx="10095702" cy="156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98183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Get-Node</a:t>
            </a:r>
            <a:endParaRPr lang="en-DE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8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Tijdelijke aanduiding voor inhoud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rgbClr val="34629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Similar to </a:t>
            </a:r>
            <a:r>
              <a:rPr lang="en-US" dirty="0">
                <a:solidFill>
                  <a:srgbClr val="0070C0"/>
                </a:solidFill>
              </a:rPr>
              <a:t>Get-Item</a:t>
            </a:r>
            <a:r>
              <a:rPr lang="en-US" dirty="0"/>
              <a:t>, you can use </a:t>
            </a:r>
            <a:r>
              <a:rPr lang="en-US" dirty="0">
                <a:solidFill>
                  <a:srgbClr val="0070C0"/>
                </a:solidFill>
              </a:rPr>
              <a:t>Get-Node</a:t>
            </a:r>
            <a:r>
              <a:rPr lang="en-US" dirty="0"/>
              <a:t> to retrieve one or more specific nodes with their properties and related methods</a:t>
            </a:r>
          </a:p>
          <a:p>
            <a:endParaRPr lang="en-US" dirty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40082"/>
            <a:ext cx="10467688" cy="208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70633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PSNode</a:t>
            </a:r>
            <a:endParaRPr lang="en-DE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9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200" y="1520591"/>
            <a:ext cx="10883348" cy="4608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Major methods and properties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Add() </a:t>
            </a:r>
            <a:r>
              <a:rPr lang="en-US" sz="2000" dirty="0"/>
              <a:t>(even for fixed size array nodes)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ParentNode</a:t>
            </a:r>
            <a:r>
              <a:rPr lang="en-US" sz="2000" dirty="0"/>
              <a:t>: refers to the parent node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RootNode</a:t>
            </a:r>
            <a:r>
              <a:rPr lang="en-US" sz="2000" dirty="0"/>
              <a:t>: refers to the root node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ChildNodes</a:t>
            </a:r>
            <a:r>
              <a:rPr lang="en-US" sz="2000" dirty="0"/>
              <a:t>: a list of (direct) child nodes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DescendantNodes</a:t>
            </a:r>
            <a:r>
              <a:rPr lang="en-US" sz="2000" dirty="0"/>
              <a:t>: a list of all descendant nodes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LeafNodes</a:t>
            </a:r>
            <a:r>
              <a:rPr lang="en-US" sz="2000" dirty="0"/>
              <a:t>: a list of all the leaf nodes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Path</a:t>
            </a:r>
            <a:r>
              <a:rPr lang="en-US" sz="2000" dirty="0"/>
              <a:t>: the exact path to the concerned node</a:t>
            </a:r>
          </a:p>
          <a:p>
            <a:r>
              <a:rPr lang="en-US" sz="2000" dirty="0">
                <a:solidFill>
                  <a:srgbClr val="0070C0"/>
                </a:solidFill>
              </a:rPr>
              <a:t>Value</a:t>
            </a:r>
            <a:r>
              <a:rPr lang="en-US" sz="2000" dirty="0"/>
              <a:t>: the value of object embedded in the node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ValueType</a:t>
            </a:r>
            <a:r>
              <a:rPr lang="en-US" sz="2000" dirty="0"/>
              <a:t>: the type of the value embedded in the node</a:t>
            </a:r>
          </a:p>
          <a:p>
            <a:r>
              <a:rPr lang="en-US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5588207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Dot Notation (XDN)</a:t>
            </a:r>
            <a:endParaRPr lang="en-US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ABFBD8-D45D-C9C1-C74C-4AD69014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11862" cy="43280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dirty="0"/>
              <a:t>Besides Get-Node supports Extended Dot Notation similar to XPath:</a:t>
            </a:r>
            <a:endParaRPr lang="en-US" sz="3400" dirty="0"/>
          </a:p>
          <a:p>
            <a:r>
              <a:rPr lang="en-US" sz="2800" b="1" dirty="0"/>
              <a:t>Wildcard support </a:t>
            </a:r>
            <a:r>
              <a:rPr lang="en-US" sz="2800" dirty="0"/>
              <a:t>(? and *)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Additional operators</a:t>
            </a:r>
            <a:endParaRPr lang="en-US" sz="2800" dirty="0">
              <a:solidFill>
                <a:srgbClr val="0070C0"/>
              </a:solidFill>
            </a:endParaRPr>
          </a:p>
          <a:p>
            <a:pPr lvl="1"/>
            <a:r>
              <a:rPr lang="en-US" sz="2400" dirty="0"/>
              <a:t>A </a:t>
            </a:r>
            <a:r>
              <a:rPr lang="en-US" sz="2400" b="1" dirty="0"/>
              <a:t>ancestor (</a:t>
            </a:r>
            <a:r>
              <a:rPr lang="en-US" sz="2400" b="1" dirty="0">
                <a:solidFill>
                  <a:schemeClr val="tx1"/>
                </a:solidFill>
              </a:rPr>
              <a:t>..</a:t>
            </a:r>
            <a:r>
              <a:rPr lang="en-US" sz="2400" b="1" dirty="0"/>
              <a:t>) selector </a:t>
            </a:r>
            <a:r>
              <a:rPr lang="en-US" sz="2400" dirty="0"/>
              <a:t>to select the parent node or an ancestor</a:t>
            </a:r>
          </a:p>
          <a:p>
            <a:pPr lvl="1"/>
            <a:r>
              <a:rPr lang="en-US" sz="2400" dirty="0"/>
              <a:t>A </a:t>
            </a:r>
            <a:r>
              <a:rPr lang="en-US" sz="2400" b="1" dirty="0"/>
              <a:t>descendant (</a:t>
            </a:r>
            <a:r>
              <a:rPr lang="en-US" sz="2400" b="1" dirty="0">
                <a:solidFill>
                  <a:schemeClr val="tx1"/>
                </a:solidFill>
              </a:rPr>
              <a:t>~</a:t>
            </a:r>
            <a:r>
              <a:rPr lang="en-US" sz="2400" b="1" dirty="0"/>
              <a:t>) selector </a:t>
            </a:r>
            <a:r>
              <a:rPr lang="en-US" sz="2400" dirty="0"/>
              <a:t>to select a (deep) descendant node</a:t>
            </a:r>
          </a:p>
          <a:p>
            <a:pPr lvl="2"/>
            <a:r>
              <a:rPr lang="en-US" sz="2000" dirty="0"/>
              <a:t>Offspring (</a:t>
            </a:r>
            <a:r>
              <a:rPr lang="en-US" sz="2000" dirty="0">
                <a:solidFill>
                  <a:srgbClr val="0070C0"/>
                </a:solidFill>
              </a:rPr>
              <a:t>~~</a:t>
            </a:r>
            <a:r>
              <a:rPr lang="en-US" sz="2000" dirty="0"/>
              <a:t>) selector to select all (deep) offspring nodes (version 0.3.3+)</a:t>
            </a:r>
          </a:p>
          <a:p>
            <a:pPr lvl="1"/>
            <a:r>
              <a:rPr lang="en-US" sz="2400" dirty="0"/>
              <a:t>An </a:t>
            </a:r>
            <a:r>
              <a:rPr lang="en-US" sz="2400" b="1" dirty="0"/>
              <a:t>equals (</a:t>
            </a:r>
            <a:r>
              <a:rPr lang="en-US" sz="2400" b="1" dirty="0">
                <a:solidFill>
                  <a:schemeClr val="tx1"/>
                </a:solidFill>
              </a:rPr>
              <a:t>=</a:t>
            </a:r>
            <a:r>
              <a:rPr lang="en-US" sz="2400" b="1" dirty="0"/>
              <a:t>) filter </a:t>
            </a:r>
            <a:r>
              <a:rPr lang="en-US" sz="2400" dirty="0"/>
              <a:t>to select a (leaf) node with a specific value</a:t>
            </a:r>
          </a:p>
          <a:p>
            <a:pPr lvl="1"/>
            <a:r>
              <a:rPr lang="en-US" sz="2400" dirty="0"/>
              <a:t>A logical </a:t>
            </a:r>
            <a:r>
              <a:rPr lang="en-US" sz="2400" b="1" dirty="0"/>
              <a:t>“Or” (</a:t>
            </a:r>
            <a:r>
              <a:rPr lang="en-US" sz="2400" b="1" dirty="0">
                <a:solidFill>
                  <a:schemeClr val="tx1"/>
                </a:solidFill>
              </a:rPr>
              <a:t>/</a:t>
            </a:r>
            <a:r>
              <a:rPr lang="en-US" sz="2400" b="1" dirty="0"/>
              <a:t>) selection </a:t>
            </a:r>
            <a:r>
              <a:rPr lang="en-US" sz="2400" dirty="0"/>
              <a:t>list to represent a list of possible names or values</a:t>
            </a:r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94803"/>
            <a:ext cx="10084268" cy="161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07304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Xdn</a:t>
            </a:r>
            <a:r>
              <a:rPr lang="en-US" dirty="0"/>
              <a:t> Example</a:t>
            </a:r>
            <a:endParaRPr lang="en-US" b="0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ijdelijke aanduiding voor inhoud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To come back on the use case, this is how you might select and change the price of the PowerShell book:</a:t>
            </a:r>
          </a:p>
          <a:p>
            <a:pPr marL="0" indent="0">
              <a:buNone/>
            </a:pPr>
            <a:r>
              <a:rPr lang="en-US" dirty="0"/>
              <a:t>                                                 1        2              3           4    5         6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the descendant </a:t>
            </a:r>
            <a:r>
              <a:rPr lang="en-US" dirty="0">
                <a:solidFill>
                  <a:srgbClr val="0070C0"/>
                </a:solidFill>
              </a:rPr>
              <a:t>Books</a:t>
            </a:r>
            <a:r>
              <a:rPr lang="en-US" dirty="0"/>
              <a:t> node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From there, select the descendant </a:t>
            </a:r>
            <a:r>
              <a:rPr lang="en-US" dirty="0">
                <a:solidFill>
                  <a:srgbClr val="0070C0"/>
                </a:solidFill>
              </a:rPr>
              <a:t>Title</a:t>
            </a:r>
            <a:r>
              <a:rPr lang="en-US" dirty="0"/>
              <a:t> node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With the a name like: </a:t>
            </a:r>
            <a:r>
              <a:rPr lang="en-US" dirty="0">
                <a:solidFill>
                  <a:srgbClr val="0070C0"/>
                </a:solidFill>
              </a:rPr>
              <a:t>*PowerShell*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the </a:t>
            </a:r>
            <a:r>
              <a:rPr lang="en-US" dirty="0">
                <a:solidFill>
                  <a:srgbClr val="0070C0"/>
                </a:solidFill>
              </a:rPr>
              <a:t>parent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the </a:t>
            </a:r>
            <a:r>
              <a:rPr lang="en-US" dirty="0">
                <a:solidFill>
                  <a:srgbClr val="0070C0"/>
                </a:solidFill>
              </a:rPr>
              <a:t>Price</a:t>
            </a:r>
            <a:r>
              <a:rPr lang="en-US" dirty="0"/>
              <a:t> (sibling)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Change the </a:t>
            </a:r>
            <a:r>
              <a:rPr lang="en-US" dirty="0">
                <a:solidFill>
                  <a:srgbClr val="0070C0"/>
                </a:solidFill>
              </a:rPr>
              <a:t>Price</a:t>
            </a:r>
            <a:r>
              <a:rPr lang="en-US" dirty="0"/>
              <a:t> value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30233"/>
            <a:ext cx="10515600" cy="42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78116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isn’t flat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ABFBD8-D45D-C9C1-C74C-4AD69014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656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Most standard cmdlets don’t work well with object-graphs:</a:t>
            </a:r>
          </a:p>
          <a:p>
            <a:r>
              <a:rPr lang="en-US" sz="2800" dirty="0">
                <a:solidFill>
                  <a:srgbClr val="0070C0"/>
                </a:solidFill>
              </a:rPr>
              <a:t>Where-Object, </a:t>
            </a:r>
            <a:r>
              <a:rPr lang="en-US" sz="2800" dirty="0" err="1">
                <a:solidFill>
                  <a:srgbClr val="0070C0"/>
                </a:solidFill>
              </a:rPr>
              <a:t>ForEach</a:t>
            </a:r>
            <a:r>
              <a:rPr lang="en-US" sz="2800" dirty="0">
                <a:solidFill>
                  <a:srgbClr val="0070C0"/>
                </a:solidFill>
              </a:rPr>
              <a:t>-Object, Compare-Object, Group-Object, Sort-Object, Select-Object a</a:t>
            </a:r>
            <a:r>
              <a:rPr lang="en-US" sz="2800" dirty="0">
                <a:solidFill>
                  <a:srgbClr val="000000"/>
                </a:solidFill>
              </a:rPr>
              <a:t>nd even </a:t>
            </a:r>
            <a:r>
              <a:rPr lang="en-US" sz="2800" dirty="0">
                <a:solidFill>
                  <a:srgbClr val="0070C0"/>
                </a:solidFill>
              </a:rPr>
              <a:t>Get-Member</a:t>
            </a:r>
            <a:r>
              <a:rPr lang="en-US" sz="2800" dirty="0"/>
              <a:t> (often used at design time)</a:t>
            </a:r>
          </a:p>
          <a:p>
            <a:pPr marL="0" indent="0">
              <a:buNone/>
            </a:pPr>
            <a:r>
              <a:rPr lang="en-US" sz="3200" dirty="0"/>
              <a:t>Simply because they assume a </a:t>
            </a:r>
            <a:r>
              <a:rPr lang="en-US" sz="3200" b="1" dirty="0"/>
              <a:t>flat</a:t>
            </a:r>
            <a:r>
              <a:rPr lang="en-US" sz="3200" dirty="0"/>
              <a:t> object.</a:t>
            </a:r>
          </a:p>
          <a:p>
            <a:pPr marL="0" indent="0">
              <a:buNone/>
            </a:pPr>
            <a:r>
              <a:rPr lang="en-US" sz="3200" dirty="0"/>
              <a:t>You need to invoke them (start a new pipeline!) several times to get to your node.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Therefore, I have added some more </a:t>
            </a:r>
            <a:r>
              <a:rPr lang="en-US" sz="3200" b="1" dirty="0"/>
              <a:t>Object-</a:t>
            </a:r>
            <a:r>
              <a:rPr lang="en-US" sz="3200" b="1" i="1" dirty="0"/>
              <a:t>Graph</a:t>
            </a:r>
            <a:r>
              <a:rPr lang="en-US" sz="3200" dirty="0"/>
              <a:t> cmdlets based on the </a:t>
            </a:r>
            <a:r>
              <a:rPr lang="en-US" sz="3200" dirty="0" err="1">
                <a:solidFill>
                  <a:srgbClr val="346296"/>
                </a:solidFill>
              </a:rPr>
              <a:t>PSNode</a:t>
            </a:r>
            <a:r>
              <a:rPr lang="en-US" sz="3200" dirty="0"/>
              <a:t> class…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15999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ConvertTo</a:t>
            </a:r>
            <a:r>
              <a:rPr lang="en-US" dirty="0"/>
              <a:t>-Expression</a:t>
            </a:r>
            <a:endParaRPr lang="en-US" b="0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62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Serializes an object to a PowerShell expression.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80944"/>
            <a:ext cx="10450137" cy="384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74085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BF06E-2D13-5865-788C-D287915B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ConvertFrom</a:t>
            </a:r>
            <a:r>
              <a:rPr lang="en-US" dirty="0"/>
              <a:t>-Expression</a:t>
            </a:r>
            <a:endParaRPr lang="en-US" b="0" dirty="0"/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92F26EA8-8F25-B5E3-0CC1-83C9936B9230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A7842C18-F1F4-3ED8-A5C0-72FD8EBCFB95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BF4456CC-C3F0-BD18-3A4F-05BEE80B223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93437011-4747-AF85-338D-AE76AFB9AAAC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CF678574-FFC1-0DFD-24C8-52438DFAE1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14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6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(Safely) Serializes an object to a PowerShell expression.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74" y="2467668"/>
            <a:ext cx="9421131" cy="383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30392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3514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Compare-</a:t>
            </a:r>
            <a:r>
              <a:rPr lang="en-US" dirty="0" err="1"/>
              <a:t>ObjectGraph</a:t>
            </a:r>
            <a:br>
              <a:rPr lang="en-US" b="0" dirty="0"/>
            </a:b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199" y="182212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Recursively compare all the nodes in an object-graph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It supports a loosely typed collection structure, but could also do a strict compare.</a:t>
            </a:r>
            <a:endParaRPr lang="en-US" dirty="0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634012"/>
            <a:ext cx="7145882" cy="185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83593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3514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Merge-</a:t>
            </a:r>
            <a:r>
              <a:rPr lang="en-US" dirty="0" err="1"/>
              <a:t>ObjectGraph</a:t>
            </a:r>
            <a:br>
              <a:rPr lang="en-US" b="0" dirty="0"/>
            </a:br>
            <a:endParaRPr lang="en-US" dirty="0"/>
          </a:p>
        </p:txBody>
      </p:sp>
      <p:sp>
        <p:nvSpPr>
          <p:cNvPr id="10" name="Tijdelijke aanduiding voor inhoud 9"/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Recursively merge all the nodes in an object-graph</a:t>
            </a:r>
          </a:p>
          <a:p>
            <a:r>
              <a:rPr lang="en-US" dirty="0"/>
              <a:t>using a specific property as primary key</a:t>
            </a:r>
          </a:p>
          <a:p>
            <a:r>
              <a:rPr lang="en-US" dirty="0"/>
              <a:t>And it also supports a loosely typed collection structure for both objects.</a:t>
            </a:r>
          </a:p>
          <a:p>
            <a:endParaRPr lang="en-US" dirty="0"/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5899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878098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4480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And more…</a:t>
            </a:r>
            <a:br>
              <a:rPr lang="en-US" b="0" dirty="0"/>
            </a:b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199" y="1822120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b="1" dirty="0"/>
              <a:t>Sort-</a:t>
            </a:r>
            <a:r>
              <a:rPr lang="en-US" sz="2800" b="1" dirty="0" err="1"/>
              <a:t>ObjectGraph</a:t>
            </a:r>
            <a:br>
              <a:rPr lang="en-US" sz="2800" dirty="0"/>
            </a:br>
            <a:r>
              <a:rPr lang="en-US" sz="2800" dirty="0"/>
              <a:t>Recursively sorts all the nodes in an object-graph</a:t>
            </a:r>
          </a:p>
          <a:p>
            <a:pPr lvl="1"/>
            <a:r>
              <a:rPr lang="en-US" sz="2400" dirty="0"/>
              <a:t>Including primary key support</a:t>
            </a:r>
          </a:p>
          <a:p>
            <a:r>
              <a:rPr lang="en-US" sz="2800" b="1" dirty="0"/>
              <a:t>Copy-</a:t>
            </a:r>
            <a:r>
              <a:rPr lang="en-US" sz="2800" b="1" dirty="0" err="1"/>
              <a:t>ObjectGraph</a:t>
            </a:r>
            <a:br>
              <a:rPr lang="en-US" sz="2800" dirty="0"/>
            </a:br>
            <a:r>
              <a:rPr lang="en-US" sz="2800" dirty="0"/>
              <a:t>Recursively (deep) copies all the nodes in an object-graph</a:t>
            </a:r>
          </a:p>
          <a:p>
            <a:pPr lvl="1"/>
            <a:r>
              <a:rPr lang="en-US" sz="2400" dirty="0"/>
              <a:t>With the ability to change your array/list types</a:t>
            </a:r>
            <a:br>
              <a:rPr lang="en-US" sz="2400" dirty="0"/>
            </a:br>
            <a:r>
              <a:rPr lang="en-US" sz="2400" dirty="0"/>
              <a:t>and dictionary/(</a:t>
            </a:r>
            <a:r>
              <a:rPr lang="en-US" sz="2400" dirty="0" err="1"/>
              <a:t>PSCustom</a:t>
            </a:r>
            <a:r>
              <a:rPr lang="en-US" sz="2400" dirty="0"/>
              <a:t>)Object types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19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707196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3514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Test-</a:t>
            </a:r>
            <a:r>
              <a:rPr lang="en-US" dirty="0" err="1"/>
              <a:t>ObjectGraph</a:t>
            </a:r>
            <a:r>
              <a:rPr lang="en-US" dirty="0"/>
              <a:t> </a:t>
            </a:r>
            <a:r>
              <a:rPr lang="en-US" sz="3100" dirty="0"/>
              <a:t>(version 0.3.5-preview)</a:t>
            </a:r>
            <a:br>
              <a:rPr lang="en-US" sz="3100" b="0" dirty="0"/>
            </a:br>
            <a:endParaRPr lang="en-US" dirty="0"/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838200" y="1825625"/>
            <a:ext cx="100499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an object-graph independent of any notation and is purely object based.</a:t>
            </a:r>
          </a:p>
          <a:p>
            <a:pPr marL="0" indent="0">
              <a:buNone/>
            </a:pPr>
            <a:r>
              <a:rPr lang="en-US" dirty="0"/>
              <a:t>It also supports a loosely typed collection structure for the input object and the schema</a:t>
            </a:r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356508"/>
            <a:ext cx="10049969" cy="136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48585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3514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You want to try it?</a:t>
            </a:r>
            <a:br>
              <a:rPr lang="en-US" b="0" dirty="0"/>
            </a:b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199" y="1822120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dirty="0" err="1"/>
              <a:t>ObjectGraphTools</a:t>
            </a:r>
            <a:r>
              <a:rPr lang="en-US" sz="2800" dirty="0"/>
              <a:t> module is available from the </a:t>
            </a:r>
            <a:r>
              <a:rPr lang="en-US" sz="2800" dirty="0">
                <a:solidFill>
                  <a:srgbClr val="0070C0"/>
                </a:solidFill>
              </a:rPr>
              <a:t>GitHub</a:t>
            </a:r>
            <a:r>
              <a:rPr lang="en-US" sz="2800" dirty="0"/>
              <a:t> at:</a:t>
            </a:r>
          </a:p>
          <a:p>
            <a:pPr marL="457200" lvl="1" indent="0">
              <a:buNone/>
            </a:pPr>
            <a:r>
              <a:rPr lang="en-US" sz="2400" dirty="0">
                <a:hlinkClick r:id="rId3"/>
              </a:rPr>
              <a:t>https://github.com/iRon7/ObjectGraphTools</a:t>
            </a:r>
            <a:endParaRPr lang="en-US" sz="24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You can install it directly from the PowerShell console via the </a:t>
            </a:r>
            <a:r>
              <a:rPr lang="en-US" sz="2800" dirty="0" err="1"/>
              <a:t>ObjectGraphTools</a:t>
            </a:r>
            <a:r>
              <a:rPr lang="en-US" sz="2800" dirty="0"/>
              <a:t> </a:t>
            </a:r>
            <a:r>
              <a:rPr lang="en-US" sz="2800" dirty="0" err="1"/>
              <a:t>NuGet</a:t>
            </a:r>
            <a:r>
              <a:rPr lang="en-US" sz="2800" dirty="0"/>
              <a:t> Page using the following command:</a:t>
            </a:r>
          </a:p>
          <a:p>
            <a:pPr marL="0" indent="0">
              <a:buNone/>
            </a:pPr>
            <a:endParaRPr lang="en-US" sz="2800" dirty="0"/>
          </a:p>
          <a:p>
            <a:pPr marL="914400" lvl="2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Install-Module -Name </a:t>
            </a:r>
            <a:r>
              <a:rPr lang="en-US" sz="2400" dirty="0" err="1">
                <a:solidFill>
                  <a:srgbClr val="0070C0"/>
                </a:solidFill>
              </a:rPr>
              <a:t>ObjectGraphTools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619752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3514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Q&amp;A’s</a:t>
            </a:r>
            <a:br>
              <a:rPr lang="en-US" b="0" dirty="0"/>
            </a:br>
            <a:endParaRPr lang="en-US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0DE6C449-85A2-BB9C-58C2-B998404FB614}"/>
              </a:ext>
            </a:extLst>
          </p:cNvPr>
          <p:cNvSpPr/>
          <p:nvPr/>
        </p:nvSpPr>
        <p:spPr>
          <a:xfrm>
            <a:off x="0" y="0"/>
            <a:ext cx="12192000" cy="124691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2A47"/>
              </a:solidFill>
            </a:endParaRPr>
          </a:p>
        </p:txBody>
      </p:sp>
      <p:sp>
        <p:nvSpPr>
          <p:cNvPr id="7" name="Tijdelijke aanduiding voor inhoud 5"/>
          <p:cNvSpPr>
            <a:spLocks noGrp="1"/>
          </p:cNvSpPr>
          <p:nvPr>
            <p:ph idx="1"/>
          </p:nvPr>
        </p:nvSpPr>
        <p:spPr>
          <a:xfrm>
            <a:off x="838200" y="1825625"/>
            <a:ext cx="1087918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PoshaKucha’s</a:t>
            </a:r>
            <a:r>
              <a:rPr lang="en-US" dirty="0"/>
              <a:t> do not have an question and answer session but if you do have any question or like to challenge the </a:t>
            </a:r>
            <a:r>
              <a:rPr lang="en-US" b="1" dirty="0"/>
              <a:t>object-graph</a:t>
            </a:r>
            <a:r>
              <a:rPr lang="en-US" dirty="0"/>
              <a:t> solution: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Please, don’t hesitate to approach me here or via the </a:t>
            </a:r>
            <a:r>
              <a:rPr lang="en-US" b="1" dirty="0"/>
              <a:t>issues</a:t>
            </a:r>
            <a:r>
              <a:rPr lang="en-US" dirty="0"/>
              <a:t> tab of the concerned GitHub repository.</a:t>
            </a:r>
          </a:p>
        </p:txBody>
      </p:sp>
    </p:spTree>
    <p:extLst>
      <p:ext uri="{BB962C8B-B14F-4D97-AF65-F5344CB8AC3E}">
        <p14:creationId xmlns:p14="http://schemas.microsoft.com/office/powerpoint/2010/main" val="4202659163"/>
      </p:ext>
    </p:extLst>
  </p:cSld>
  <p:clrMapOvr>
    <a:masterClrMapping/>
  </p:clrMapOvr>
  <p:transition spd="med" advTm="1925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2267</Words>
  <Application>Microsoft Office PowerPoint</Application>
  <PresentationFormat>Breitbild</PresentationFormat>
  <Paragraphs>324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21</vt:i4>
      </vt:variant>
    </vt:vector>
  </HeadingPairs>
  <TitlesOfParts>
    <vt:vector size="30" baseType="lpstr">
      <vt:lpstr>Arial</vt:lpstr>
      <vt:lpstr>Calibri</vt:lpstr>
      <vt:lpstr>Courier New</vt:lpstr>
      <vt:lpstr>Segoe UI Light</vt:lpstr>
      <vt:lpstr>Stencil</vt:lpstr>
      <vt:lpstr>Wingdings</vt:lpstr>
      <vt:lpstr>Blank</vt:lpstr>
      <vt:lpstr>Speaker's slide</vt:lpstr>
      <vt:lpstr>Content</vt:lpstr>
      <vt:lpstr>Object-Graph Tools / Ronald Bode (iRon7)</vt:lpstr>
      <vt:lpstr>We are</vt:lpstr>
      <vt:lpstr>About Object-Graphs</vt:lpstr>
      <vt:lpstr>Bookstore example </vt:lpstr>
      <vt:lpstr>Finding a book </vt:lpstr>
      <vt:lpstr>Other object-graph issues </vt:lpstr>
      <vt:lpstr>Featuring Object-Graph tools</vt:lpstr>
      <vt:lpstr>Get-ChildNode</vt:lpstr>
      <vt:lpstr>Get-Node</vt:lpstr>
      <vt:lpstr>PSNode</vt:lpstr>
      <vt:lpstr>Extended Dot Notation (XDN)</vt:lpstr>
      <vt:lpstr>Xdn Example</vt:lpstr>
      <vt:lpstr>The world isn’t flat</vt:lpstr>
      <vt:lpstr>ConvertTo-Expression</vt:lpstr>
      <vt:lpstr>ConvertFrom-Expression</vt:lpstr>
      <vt:lpstr>Compare-ObjectGraph </vt:lpstr>
      <vt:lpstr>Merge-ObjectGraph </vt:lpstr>
      <vt:lpstr>And more… </vt:lpstr>
      <vt:lpstr>Test-ObjectGraph (version 0.3.5-preview) </vt:lpstr>
      <vt:lpstr>You want to try it? </vt:lpstr>
      <vt:lpstr>Q&amp;A’s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2026-07-06T14:57:24Z</dcterms:created>
  <dcterms:modified xsi:type="dcterms:W3CDTF">2026-07-06T14:57:30Z</dcterms:modified>
</cp:coreProperties>
</file>