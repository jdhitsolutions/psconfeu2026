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697" r:id="rId1"/>
    <p:sldMasterId id="2147483695" r:id="rId2"/>
    <p:sldMasterId id="2147483684" r:id="rId3"/>
  </p:sldMasterIdLst>
  <p:notesMasterIdLst>
    <p:notesMasterId r:id="rId26"/>
  </p:notesMasterIdLst>
  <p:handoutMasterIdLst>
    <p:handoutMasterId r:id="rId27"/>
  </p:handoutMasterIdLst>
  <p:sldIdLst>
    <p:sldId id="310" r:id="rId4"/>
    <p:sldId id="268" r:id="rId5"/>
    <p:sldId id="269" r:id="rId6"/>
    <p:sldId id="262" r:id="rId7"/>
    <p:sldId id="275" r:id="rId8"/>
    <p:sldId id="277" r:id="rId9"/>
    <p:sldId id="278" r:id="rId10"/>
    <p:sldId id="281" r:id="rId11"/>
    <p:sldId id="293" r:id="rId12"/>
    <p:sldId id="294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292" r:id="rId24"/>
    <p:sldId id="31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2A47"/>
    <a:srgbClr val="D9B877"/>
    <a:srgbClr val="346297"/>
    <a:srgbClr val="FFFFFF"/>
    <a:srgbClr val="000000"/>
    <a:srgbClr val="3B2B46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ED6F08-6E3B-4559-A6B4-1696B4B0550E}" v="26" dt="2026-06-03T11:08:02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 autoAdjust="0"/>
    <p:restoredTop sz="83585" autoAdjust="0"/>
  </p:normalViewPr>
  <p:slideViewPr>
    <p:cSldViewPr snapToGrid="0">
      <p:cViewPr varScale="1">
        <p:scale>
          <a:sx n="102" d="100"/>
          <a:sy n="102" d="100"/>
        </p:scale>
        <p:origin x="834" y="72"/>
      </p:cViewPr>
      <p:guideLst/>
    </p:cSldViewPr>
  </p:slideViewPr>
  <p:outlineViewPr>
    <p:cViewPr>
      <p:scale>
        <a:sx n="33" d="100"/>
        <a:sy n="33" d="100"/>
      </p:scale>
      <p:origin x="0" y="-154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158"/>
    </p:cViewPr>
  </p:sorterViewPr>
  <p:notesViewPr>
    <p:cSldViewPr snapToGrid="0">
      <p:cViewPr>
        <p:scale>
          <a:sx n="75" d="100"/>
          <a:sy n="75" d="100"/>
        </p:scale>
        <p:origin x="4092" y="8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960B-BFCC-F13A-87FF-EA8BAA2E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32FAE-40FD-C04E-0885-36BE0F0F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D27A9-0126-C8D2-6E85-D71526D79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0: this slide will not automatically turned over. Show this BEFORE the acutal presentation starts.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F63B8-2740-F607-0C69-26D0604EA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193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b="1" dirty="0"/>
              <a:t>Finding App </a:t>
            </a:r>
            <a:r>
              <a:rPr lang="de-CH" b="1" dirty="0" err="1"/>
              <a:t>Permissions</a:t>
            </a:r>
            <a:r>
              <a:rPr lang="de-CH" b="1" dirty="0"/>
              <a:t> in </a:t>
            </a:r>
            <a:r>
              <a:rPr lang="de-CH" b="1" dirty="0" err="1"/>
              <a:t>the</a:t>
            </a:r>
            <a:r>
              <a:rPr lang="de-CH" b="1"/>
              <a:t> Entra Maze</a:t>
            </a:r>
          </a:p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310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SMTP.SendAsApp</a:t>
            </a:r>
            <a:r>
              <a:rPr lang="de-CH" dirty="0"/>
              <a:t>           </a:t>
            </a:r>
          </a:p>
          <a:p>
            <a:r>
              <a:rPr lang="de-CH" dirty="0" err="1"/>
              <a:t>Mail.Read</a:t>
            </a:r>
            <a:r>
              <a:rPr lang="de-CH" dirty="0"/>
              <a:t>                </a:t>
            </a:r>
          </a:p>
          <a:p>
            <a:r>
              <a:rPr lang="de-CH" dirty="0" err="1"/>
              <a:t>Mail.ReadBasic</a:t>
            </a:r>
            <a:r>
              <a:rPr lang="de-CH" dirty="0"/>
              <a:t>           </a:t>
            </a:r>
          </a:p>
          <a:p>
            <a:r>
              <a:rPr lang="de-CH" dirty="0" err="1"/>
              <a:t>Mail.ReadWrite</a:t>
            </a:r>
            <a:r>
              <a:rPr lang="de-CH" dirty="0"/>
              <a:t>           </a:t>
            </a:r>
          </a:p>
          <a:p>
            <a:r>
              <a:rPr lang="de-CH" dirty="0" err="1"/>
              <a:t>Mail.Send</a:t>
            </a:r>
            <a:r>
              <a:rPr lang="de-CH" dirty="0"/>
              <a:t>                </a:t>
            </a:r>
          </a:p>
          <a:p>
            <a:r>
              <a:rPr lang="de-CH" dirty="0" err="1"/>
              <a:t>MailboxSettings.Read</a:t>
            </a:r>
            <a:r>
              <a:rPr lang="de-CH" dirty="0"/>
              <a:t>     </a:t>
            </a:r>
          </a:p>
          <a:p>
            <a:r>
              <a:rPr lang="de-CH" dirty="0" err="1"/>
              <a:t>MailboxSettings.ReadWrite</a:t>
            </a:r>
            <a:endParaRPr lang="de-CH" dirty="0"/>
          </a:p>
          <a:p>
            <a:r>
              <a:rPr lang="de-CH" dirty="0" err="1"/>
              <a:t>MailboxFolder.Read</a:t>
            </a:r>
            <a:r>
              <a:rPr lang="de-CH" dirty="0"/>
              <a:t>       </a:t>
            </a:r>
          </a:p>
          <a:p>
            <a:r>
              <a:rPr lang="de-CH" dirty="0" err="1"/>
              <a:t>MailboxFolder.ReadWrite</a:t>
            </a:r>
            <a:r>
              <a:rPr lang="de-CH" dirty="0"/>
              <a:t>  </a:t>
            </a:r>
          </a:p>
          <a:p>
            <a:r>
              <a:rPr lang="de-CH" dirty="0" err="1"/>
              <a:t>MailboxItem.Read</a:t>
            </a:r>
            <a:r>
              <a:rPr lang="de-CH" dirty="0"/>
              <a:t>         </a:t>
            </a:r>
          </a:p>
          <a:p>
            <a:r>
              <a:rPr lang="de-CH" dirty="0" err="1"/>
              <a:t>MailboxItem.ImportExport</a:t>
            </a:r>
            <a:r>
              <a:rPr lang="de-CH" dirty="0"/>
              <a:t> </a:t>
            </a:r>
          </a:p>
          <a:p>
            <a:r>
              <a:rPr lang="de-CH" dirty="0" err="1"/>
              <a:t>Calendars.Read</a:t>
            </a:r>
            <a:r>
              <a:rPr lang="de-CH" dirty="0"/>
              <a:t>           </a:t>
            </a:r>
          </a:p>
          <a:p>
            <a:r>
              <a:rPr lang="de-CH" dirty="0" err="1"/>
              <a:t>Calendars.ReadWrite</a:t>
            </a:r>
            <a:r>
              <a:rPr lang="de-CH" dirty="0"/>
              <a:t>      </a:t>
            </a:r>
          </a:p>
          <a:p>
            <a:r>
              <a:rPr lang="de-CH" dirty="0" err="1"/>
              <a:t>Contacts.Read</a:t>
            </a:r>
            <a:r>
              <a:rPr lang="de-CH" dirty="0"/>
              <a:t>            </a:t>
            </a:r>
          </a:p>
          <a:p>
            <a:r>
              <a:rPr lang="de-CH" dirty="0" err="1"/>
              <a:t>Contacts.ReadWrite</a:t>
            </a:r>
            <a:r>
              <a:rPr lang="de-CH" dirty="0"/>
              <a:t>       </a:t>
            </a:r>
          </a:p>
          <a:p>
            <a:r>
              <a:rPr lang="de-CH" dirty="0"/>
              <a:t>Mail Full Access         </a:t>
            </a:r>
          </a:p>
          <a:p>
            <a:r>
              <a:rPr lang="de-CH" dirty="0"/>
              <a:t>Exchange Full Access     </a:t>
            </a:r>
          </a:p>
          <a:p>
            <a:r>
              <a:rPr lang="de-CH" dirty="0" err="1"/>
              <a:t>EWS.AccessAsApp</a:t>
            </a:r>
            <a:r>
              <a:rPr lang="de-CH" dirty="0"/>
              <a:t> </a:t>
            </a:r>
          </a:p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44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416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962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845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894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548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558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292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753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1938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194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4785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076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898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5970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935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1860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8166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https://youtu.be/ThPuQAvoHGM </a:t>
            </a:r>
            <a:endParaRPr lang="de-DE"/>
          </a:p>
          <a:p>
            <a:r>
              <a:rPr lang="de-DE"/>
              <a:t>https://github.com/psconfeu/2025/blob/main/%23PoShaKucha/Leo%20Visser/CacheDataInModulePoShaKucha.pptx</a:t>
            </a:r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286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2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.png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5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pic>
        <p:nvPicPr>
          <p:cNvPr id="2" name="Image 1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EC42AD5F-B6B5-8DD5-EE15-B684945B57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475" y="7036060"/>
            <a:ext cx="342783" cy="35075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58BDD72-13E1-4604-4FCB-EEE5920FF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3043" y="7041064"/>
            <a:ext cx="599377" cy="5294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C6441D7-7489-D337-4AC4-6B48BB130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0F21527-BE75-4B12-2B2C-320F9FE4A8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0092" y="7015702"/>
            <a:ext cx="565019" cy="565019"/>
          </a:xfrm>
          <a:prstGeom prst="rect">
            <a:avLst/>
          </a:prstGeom>
        </p:spPr>
      </p:pic>
      <p:pic>
        <p:nvPicPr>
          <p:cNvPr id="8" name="Grafik 7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5DC0A073-DDE4-2D81-225C-AA65C350E82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66" y="7036060"/>
            <a:ext cx="597460" cy="52430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0B8DC59-A021-243B-77D7-2B3D0A98464E}"/>
              </a:ext>
            </a:extLst>
          </p:cNvPr>
          <p:cNvSpPr txBox="1"/>
          <p:nvPr userDrawn="1"/>
        </p:nvSpPr>
        <p:spPr>
          <a:xfrm>
            <a:off x="5787896" y="7738421"/>
            <a:ext cx="2949048" cy="369332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346297"/>
                </a:solidFill>
              </a:rPr>
              <a:t>Choose your favorite service!</a:t>
            </a:r>
            <a:endParaRPr lang="en-DE">
              <a:solidFill>
                <a:srgbClr val="346297"/>
              </a:solidFill>
            </a:endParaRP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7FB76F69-B688-7DF6-E76B-4171727289A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>
                <a:solidFill>
                  <a:srgbClr val="346296"/>
                </a:solidFill>
              </a:rPr>
              <a:t>@yourfavoritesocmedhandle</a:t>
            </a:r>
          </a:p>
          <a:p>
            <a:endParaRPr lang="en-GB" b="1">
              <a:solidFill>
                <a:srgbClr val="346296"/>
              </a:solidFill>
            </a:endParaRP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AF9BB9B8-701A-EB3C-E695-50E2B91A30FB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462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que 23">
            <a:extLst>
              <a:ext uri="{FF2B5EF4-FFF2-40B4-BE49-F238E27FC236}">
                <a16:creationId xmlns:a16="http://schemas.microsoft.com/office/drawing/2014/main" id="{672DAEE1-9F10-79C6-99E9-BDFBC3D17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46296"/>
                </a:solidFill>
              </a:rPr>
              <a:t>@andresbohren</a:t>
            </a:r>
          </a:p>
          <a:p>
            <a:endParaRPr lang="en-GB" b="1" dirty="0">
              <a:solidFill>
                <a:srgbClr val="346296"/>
              </a:solidFill>
            </a:endParaRPr>
          </a:p>
        </p:txBody>
      </p:sp>
      <p:pic>
        <p:nvPicPr>
          <p:cNvPr id="11" name="Image 10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8F580B04-0A71-F403-17DA-BF3F734827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004" y="6374465"/>
            <a:ext cx="342783" cy="350754"/>
          </a:xfrm>
          <a:prstGeom prst="rect">
            <a:avLst/>
          </a:prstGeom>
        </p:spPr>
      </p:pic>
      <p:pic>
        <p:nvPicPr>
          <p:cNvPr id="4" name="Graphique 7">
            <a:extLst>
              <a:ext uri="{FF2B5EF4-FFF2-40B4-BE49-F238E27FC236}">
                <a16:creationId xmlns:a16="http://schemas.microsoft.com/office/drawing/2014/main" id="{4AFD84EB-825F-DBF4-B9C0-420AB1263E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46DF7CA-8F28-2C27-EBC8-C589FBC981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46213" y="7076319"/>
            <a:ext cx="545249" cy="48163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1201337-FFF7-4755-AEAF-7F9345F4D0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C2720D7-9A93-09EA-D3E2-FDFCD95BAB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60092" y="6992937"/>
            <a:ext cx="565019" cy="565019"/>
          </a:xfrm>
          <a:prstGeom prst="rect">
            <a:avLst/>
          </a:prstGeom>
        </p:spPr>
      </p:pic>
      <p:pic>
        <p:nvPicPr>
          <p:cNvPr id="17" name="Grafik 16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F1EB9056-7487-39DC-8BDE-294705E52418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3" y="6335963"/>
            <a:ext cx="510503" cy="447992"/>
          </a:xfrm>
          <a:prstGeom prst="rect">
            <a:avLst/>
          </a:prstGeom>
        </p:spPr>
      </p:pic>
      <p:pic>
        <p:nvPicPr>
          <p:cNvPr id="6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5D91D13-F8E6-A494-85EE-0DDFAA15EC73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7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12" Type="http://schemas.openxmlformats.org/officeDocument/2006/relationships/hyperlink" Target="https://github.com/BohrenA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11" Type="http://schemas.openxmlformats.org/officeDocument/2006/relationships/hyperlink" Target="https://blog.icewolf.ch/" TargetMode="External"/><Relationship Id="rId5" Type="http://schemas.openxmlformats.org/officeDocument/2006/relationships/image" Target="../media/image13.png"/><Relationship Id="rId10" Type="http://schemas.openxmlformats.org/officeDocument/2006/relationships/hyperlink" Target="https://twitter.com/andresbohren" TargetMode="External"/><Relationship Id="rId4" Type="http://schemas.openxmlformats.org/officeDocument/2006/relationships/image" Target="../media/image12.png"/><Relationship Id="rId9" Type="http://schemas.openxmlformats.org/officeDocument/2006/relationships/hyperlink" Target="https://www.linkedin.com/in/andres-bohren/" TargetMode="External"/><Relationship Id="rId14" Type="http://schemas.openxmlformats.org/officeDocument/2006/relationships/hyperlink" Target="https://isolutions.ch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icewolf.ch/archive/2023/01/05/exchange-online-role-based-access-control-rbac-for-application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graph/permissions-referenc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ohrenAn/GitHub_PowerShellScripts/blob/main/ExchangeOnline/ExportEXOApplicationAccessPolicy.ps1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hyperlink" Target="https://blog.icewolf.ch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sconfeu/2025/blob/main/%23PoShaKucha/Leo%20Visser/CacheDataInModulePoShaKucha.pptx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EA18A-3A66-5913-7AF0-23FFEACF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3605107-04B6-810E-29BC-B3881739DF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9061" y="630961"/>
            <a:ext cx="9733280" cy="1325563"/>
          </a:xfrm>
        </p:spPr>
        <p:txBody>
          <a:bodyPr/>
          <a:lstStyle/>
          <a:p>
            <a:pPr rtl="0" eaLnBrk="1" latinLnBrk="0" hangingPunct="1"/>
            <a:r>
              <a:rPr lang="en-GB" sz="4000"/>
              <a:t>Your session title / Your name</a:t>
            </a:r>
            <a:endParaRPr lang="en-DE"/>
          </a:p>
        </p:txBody>
      </p:sp>
      <p:pic>
        <p:nvPicPr>
          <p:cNvPr id="3" name="Graphique 7">
            <a:extLst>
              <a:ext uri="{FF2B5EF4-FFF2-40B4-BE49-F238E27FC236}">
                <a16:creationId xmlns:a16="http://schemas.microsoft.com/office/drawing/2014/main" id="{F96F05BD-DE57-606B-9031-5A525C6897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212" y="2028538"/>
            <a:ext cx="8666978" cy="3146276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627D4D1-E365-89E0-56F5-889712402ABA}"/>
              </a:ext>
            </a:extLst>
          </p:cNvPr>
          <p:cNvSpPr/>
          <p:nvPr/>
        </p:nvSpPr>
        <p:spPr>
          <a:xfrm>
            <a:off x="1089891" y="1810327"/>
            <a:ext cx="9873673" cy="3620655"/>
          </a:xfrm>
          <a:prstGeom prst="roundRect">
            <a:avLst/>
          </a:prstGeom>
          <a:noFill/>
          <a:ln>
            <a:solidFill>
              <a:srgbClr val="3B2A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4400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75D0F87-B486-6035-97F5-52F2EADC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05" y="344138"/>
            <a:ext cx="10393901" cy="1325563"/>
          </a:xfrm>
        </p:spPr>
        <p:txBody>
          <a:bodyPr>
            <a:noAutofit/>
          </a:bodyPr>
          <a:lstStyle/>
          <a:p>
            <a:r>
              <a:rPr lang="de-CH" sz="4800" dirty="0"/>
              <a:t>Finding App </a:t>
            </a:r>
            <a:r>
              <a:rPr lang="de-CH" sz="4800" dirty="0" err="1"/>
              <a:t>Permissions</a:t>
            </a:r>
            <a:r>
              <a:rPr lang="de-CH" sz="4800" dirty="0"/>
              <a:t> in </a:t>
            </a:r>
            <a:r>
              <a:rPr lang="de-CH" sz="4800" dirty="0" err="1"/>
              <a:t>the</a:t>
            </a:r>
            <a:r>
              <a:rPr lang="de-CH" sz="4800" dirty="0"/>
              <a:t> </a:t>
            </a:r>
            <a:br>
              <a:rPr lang="de-CH" sz="4800" dirty="0"/>
            </a:br>
            <a:r>
              <a:rPr lang="de-CH" sz="4800" dirty="0"/>
              <a:t>Entra Maze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EFD6628-AEFA-1303-0044-462871DB6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24840" y="1277938"/>
            <a:ext cx="7754167" cy="2238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sz="2000" dirty="0"/>
              <a:t>Senior Cloud </a:t>
            </a:r>
            <a:r>
              <a:rPr lang="de-CH" sz="2000" dirty="0" err="1"/>
              <a:t>Architect</a:t>
            </a:r>
            <a:r>
              <a:rPr lang="de-CH" sz="2000" dirty="0"/>
              <a:t> at Isolutions</a:t>
            </a:r>
          </a:p>
          <a:p>
            <a:pPr marL="0" indent="0">
              <a:buNone/>
            </a:pPr>
            <a:r>
              <a:rPr lang="de-CH" sz="2000" dirty="0"/>
              <a:t>25 Years </a:t>
            </a:r>
            <a:r>
              <a:rPr lang="de-CH" sz="2000" dirty="0" err="1"/>
              <a:t>of</a:t>
            </a:r>
            <a:r>
              <a:rPr lang="de-CH" sz="2000" dirty="0"/>
              <a:t> Experience in IT</a:t>
            </a:r>
          </a:p>
          <a:p>
            <a:pPr marL="0" indent="0">
              <a:buNone/>
            </a:pPr>
            <a:r>
              <a:rPr lang="de-CH" sz="2000" dirty="0"/>
              <a:t>Microsoft Cloud / Messaging / Communication / Identity / Security / PowerShell</a:t>
            </a:r>
            <a:endParaRPr lang="de-CH" sz="2000" dirty="0">
              <a:cs typeface="Segoe UI"/>
            </a:endParaRPr>
          </a:p>
          <a:p>
            <a:pPr marL="0" indent="0">
              <a:buNone/>
            </a:pPr>
            <a:r>
              <a:rPr lang="de-CH" sz="2000" dirty="0"/>
              <a:t>MVP: Microsoft 365 / PowerShell</a:t>
            </a:r>
          </a:p>
          <a:p>
            <a:pPr marL="0" indent="0">
              <a:buNone/>
            </a:pPr>
            <a:r>
              <a:rPr lang="de-CH" sz="2000" dirty="0"/>
              <a:t>Meetup: Swiss PowerShell User Group / M365 Community </a:t>
            </a:r>
            <a:r>
              <a:rPr lang="de-CH" sz="2000" dirty="0" err="1"/>
              <a:t>Switzerland</a:t>
            </a:r>
            <a:endParaRPr lang="de-CH" sz="2000" dirty="0"/>
          </a:p>
          <a:p>
            <a:pPr marL="0" indent="0">
              <a:buNone/>
            </a:pPr>
            <a:endParaRPr lang="en-DE"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5A22762-ED71-0E10-48DE-CC22224E02D6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927D71-D6E3-95FE-97C5-9FE1009782A6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51E642-33B9-9D0A-E02C-E6543E675F07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DDFC0F-D205-A251-A66F-1F38DA4FCE3A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9719103-B649-D3A3-E46F-9F582C130168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Bildplatzhalter 11">
            <a:extLst>
              <a:ext uri="{FF2B5EF4-FFF2-40B4-BE49-F238E27FC236}">
                <a16:creationId xmlns:a16="http://schemas.microsoft.com/office/drawing/2014/main" id="{902D97AF-AB0B-8451-9898-0B2114D60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5459" y="1690688"/>
            <a:ext cx="2114550" cy="2238375"/>
          </a:xfrm>
          <a:prstGeom prst="ellipse">
            <a:avLst/>
          </a:prstGeom>
        </p:spPr>
      </p:pic>
      <p:pic>
        <p:nvPicPr>
          <p:cNvPr id="16" name="Picture 15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A9BBF6C8-6875-9084-E8EF-40EFEADFFA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425" y="4688219"/>
            <a:ext cx="1472615" cy="602064"/>
          </a:xfrm>
          <a:prstGeom prst="rect">
            <a:avLst/>
          </a:prstGeom>
        </p:spPr>
      </p:pic>
      <p:pic>
        <p:nvPicPr>
          <p:cNvPr id="56" name="Grafik 45">
            <a:extLst>
              <a:ext uri="{FF2B5EF4-FFF2-40B4-BE49-F238E27FC236}">
                <a16:creationId xmlns:a16="http://schemas.microsoft.com/office/drawing/2014/main" id="{8CB75CCB-FF59-B268-DDBD-D7E7663E4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0877" y="5236747"/>
            <a:ext cx="476316" cy="476316"/>
          </a:xfrm>
          <a:prstGeom prst="rect">
            <a:avLst/>
          </a:prstGeom>
        </p:spPr>
      </p:pic>
      <p:pic>
        <p:nvPicPr>
          <p:cNvPr id="58" name="Grafik 46">
            <a:extLst>
              <a:ext uri="{FF2B5EF4-FFF2-40B4-BE49-F238E27FC236}">
                <a16:creationId xmlns:a16="http://schemas.microsoft.com/office/drawing/2014/main" id="{9C93F99B-AFBD-22AA-C967-7B606DACC5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9610" y="3549635"/>
            <a:ext cx="476316" cy="476316"/>
          </a:xfrm>
          <a:prstGeom prst="rect">
            <a:avLst/>
          </a:prstGeom>
        </p:spPr>
      </p:pic>
      <p:pic>
        <p:nvPicPr>
          <p:cNvPr id="60" name="Grafik 47">
            <a:extLst>
              <a:ext uri="{FF2B5EF4-FFF2-40B4-BE49-F238E27FC236}">
                <a16:creationId xmlns:a16="http://schemas.microsoft.com/office/drawing/2014/main" id="{227772DF-A87B-3E87-0ADA-3968CCA967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0877" y="4115181"/>
            <a:ext cx="476316" cy="476316"/>
          </a:xfrm>
          <a:prstGeom prst="rect">
            <a:avLst/>
          </a:prstGeom>
        </p:spPr>
      </p:pic>
      <p:pic>
        <p:nvPicPr>
          <p:cNvPr id="62" name="Grafik 48">
            <a:extLst>
              <a:ext uri="{FF2B5EF4-FFF2-40B4-BE49-F238E27FC236}">
                <a16:creationId xmlns:a16="http://schemas.microsoft.com/office/drawing/2014/main" id="{FDA8922C-16FE-B35C-20C6-A1C0E4F2DA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0877" y="4680727"/>
            <a:ext cx="476316" cy="466790"/>
          </a:xfrm>
          <a:prstGeom prst="rect">
            <a:avLst/>
          </a:prstGeom>
        </p:spPr>
      </p:pic>
      <p:sp>
        <p:nvSpPr>
          <p:cNvPr id="64" name="Textfeld 49">
            <a:extLst>
              <a:ext uri="{FF2B5EF4-FFF2-40B4-BE49-F238E27FC236}">
                <a16:creationId xmlns:a16="http://schemas.microsoft.com/office/drawing/2014/main" id="{C3220910-895E-6E50-6215-343CCB236460}"/>
              </a:ext>
            </a:extLst>
          </p:cNvPr>
          <p:cNvSpPr txBox="1"/>
          <p:nvPr/>
        </p:nvSpPr>
        <p:spPr>
          <a:xfrm>
            <a:off x="4802427" y="4705329"/>
            <a:ext cx="6687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https://www.linkedin.com/in/andres-bohren/</a:t>
            </a:r>
            <a:r>
              <a:rPr lang="de-CH"/>
              <a:t> </a:t>
            </a:r>
          </a:p>
        </p:txBody>
      </p:sp>
      <p:sp>
        <p:nvSpPr>
          <p:cNvPr id="66" name="Textfeld 50">
            <a:extLst>
              <a:ext uri="{FF2B5EF4-FFF2-40B4-BE49-F238E27FC236}">
                <a16:creationId xmlns:a16="http://schemas.microsoft.com/office/drawing/2014/main" id="{63733F43-97A4-6EEF-C19B-700E029E2028}"/>
              </a:ext>
            </a:extLst>
          </p:cNvPr>
          <p:cNvSpPr txBox="1"/>
          <p:nvPr/>
        </p:nvSpPr>
        <p:spPr>
          <a:xfrm>
            <a:off x="4802428" y="4177443"/>
            <a:ext cx="515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i="0">
                <a:effectLst/>
                <a:latin typeface="-apple-system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https://twitter.com/andresbohren</a:t>
            </a:r>
            <a:r>
              <a:rPr lang="de-CH" i="0">
                <a:effectLst/>
                <a:latin typeface="-apple-system"/>
              </a:rPr>
              <a:t> / @andresbohren</a:t>
            </a:r>
            <a:endParaRPr lang="de-CH"/>
          </a:p>
        </p:txBody>
      </p:sp>
      <p:sp>
        <p:nvSpPr>
          <p:cNvPr id="68" name="Textfeld 51">
            <a:extLst>
              <a:ext uri="{FF2B5EF4-FFF2-40B4-BE49-F238E27FC236}">
                <a16:creationId xmlns:a16="http://schemas.microsoft.com/office/drawing/2014/main" id="{C51975DC-D073-1F43-AD17-0B0D778B7DE0}"/>
              </a:ext>
            </a:extLst>
          </p:cNvPr>
          <p:cNvSpPr txBox="1"/>
          <p:nvPr/>
        </p:nvSpPr>
        <p:spPr>
          <a:xfrm>
            <a:off x="4831161" y="3624102"/>
            <a:ext cx="2522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https://blog.icewolf.ch</a:t>
            </a:r>
            <a:r>
              <a:rPr lang="de-CH"/>
              <a:t> </a:t>
            </a:r>
          </a:p>
        </p:txBody>
      </p:sp>
      <p:sp>
        <p:nvSpPr>
          <p:cNvPr id="70" name="Textfeld 52">
            <a:extLst>
              <a:ext uri="{FF2B5EF4-FFF2-40B4-BE49-F238E27FC236}">
                <a16:creationId xmlns:a16="http://schemas.microsoft.com/office/drawing/2014/main" id="{F36BD138-41A6-6E7C-D403-22C1A518C622}"/>
              </a:ext>
            </a:extLst>
          </p:cNvPr>
          <p:cNvSpPr txBox="1"/>
          <p:nvPr/>
        </p:nvSpPr>
        <p:spPr>
          <a:xfrm>
            <a:off x="4831160" y="5290239"/>
            <a:ext cx="3903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https://github.com/BohrenAn</a:t>
            </a:r>
            <a:r>
              <a:rPr lang="de-CH"/>
              <a:t> </a:t>
            </a:r>
          </a:p>
        </p:txBody>
      </p:sp>
      <p:pic>
        <p:nvPicPr>
          <p:cNvPr id="72" name="Grafik 53">
            <a:extLst>
              <a:ext uri="{FF2B5EF4-FFF2-40B4-BE49-F238E27FC236}">
                <a16:creationId xmlns:a16="http://schemas.microsoft.com/office/drawing/2014/main" id="{BB2D2483-F81F-751B-DD10-1FB7E59D92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0877" y="5813317"/>
            <a:ext cx="476316" cy="495369"/>
          </a:xfrm>
          <a:prstGeom prst="rect">
            <a:avLst/>
          </a:prstGeom>
        </p:spPr>
      </p:pic>
      <p:sp>
        <p:nvSpPr>
          <p:cNvPr id="74" name="Textfeld 54">
            <a:extLst>
              <a:ext uri="{FF2B5EF4-FFF2-40B4-BE49-F238E27FC236}">
                <a16:creationId xmlns:a16="http://schemas.microsoft.com/office/drawing/2014/main" id="{FE8575D4-545C-F9ED-E3F0-67D809BCA32A}"/>
              </a:ext>
            </a:extLst>
          </p:cNvPr>
          <p:cNvSpPr txBox="1"/>
          <p:nvPr/>
        </p:nvSpPr>
        <p:spPr>
          <a:xfrm>
            <a:off x="4802428" y="5845887"/>
            <a:ext cx="33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https://isolutions.ch</a:t>
            </a:r>
            <a:r>
              <a:rPr lang="de-CH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072C2F-A49C-65C6-43E6-F9E62EC57EB8}"/>
              </a:ext>
            </a:extLst>
          </p:cNvPr>
          <p:cNvSpPr txBox="1"/>
          <p:nvPr/>
        </p:nvSpPr>
        <p:spPr>
          <a:xfrm>
            <a:off x="1342902" y="4115181"/>
            <a:ext cx="157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Andres Bohren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20158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el 1">
            <a:extLst>
              <a:ext uri="{FF2B5EF4-FFF2-40B4-BE49-F238E27FC236}">
                <a16:creationId xmlns:a16="http://schemas.microsoft.com/office/drawing/2014/main" id="{C60D50DB-4B58-2E8D-4013-486290C4E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</p:spPr>
        <p:txBody>
          <a:bodyPr>
            <a:normAutofit/>
          </a:bodyPr>
          <a:lstStyle/>
          <a:p>
            <a:r>
              <a:rPr lang="de-CH" dirty="0"/>
              <a:t>EXO </a:t>
            </a:r>
            <a:r>
              <a:rPr lang="de-CH" dirty="0" err="1"/>
              <a:t>Application</a:t>
            </a:r>
            <a:r>
              <a:rPr lang="de-CH" dirty="0"/>
              <a:t> Access Policy</a:t>
            </a:r>
            <a:endParaRPr lang="en-DE" dirty="0"/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324E1350-1E31-18C0-91CA-A29C42438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8694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de-CH" sz="2400" dirty="0"/>
              <a:t>In 2020 </a:t>
            </a:r>
            <a:r>
              <a:rPr lang="de-CH" sz="2400" dirty="0" err="1"/>
              <a:t>the</a:t>
            </a:r>
            <a:r>
              <a:rPr lang="de-CH" sz="2400" dirty="0"/>
              <a:t> Exchange Team </a:t>
            </a:r>
            <a:r>
              <a:rPr lang="de-CH" sz="2400" dirty="0" err="1"/>
              <a:t>came</a:t>
            </a:r>
            <a:r>
              <a:rPr lang="de-CH" sz="2400" dirty="0"/>
              <a:t> </a:t>
            </a:r>
            <a:r>
              <a:rPr lang="de-CH" sz="2400" dirty="0" err="1"/>
              <a:t>up</a:t>
            </a:r>
            <a:r>
              <a:rPr lang="de-CH" sz="2400" dirty="0"/>
              <a:t> </a:t>
            </a:r>
            <a:r>
              <a:rPr lang="de-CH" sz="2400" dirty="0" err="1"/>
              <a:t>with</a:t>
            </a:r>
            <a:r>
              <a:rPr lang="de-CH" sz="2400" dirty="0"/>
              <a:t> </a:t>
            </a:r>
            <a:r>
              <a:rPr lang="de-CH" sz="2400" dirty="0" err="1"/>
              <a:t>Application</a:t>
            </a:r>
            <a:r>
              <a:rPr lang="de-CH" sz="2400" dirty="0"/>
              <a:t> Access </a:t>
            </a:r>
            <a:r>
              <a:rPr lang="de-CH" sz="2400" dirty="0" err="1"/>
              <a:t>Policies</a:t>
            </a:r>
            <a:endParaRPr lang="en-DE" sz="24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426B67A-2E2D-80A5-0BF5-E8FD8E78638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FA08018-404E-69C8-E6B3-BD09B610DB17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4AE8EE-E0BC-EE4E-8760-D4C05F2888F0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0E9925-5FA8-FBB7-C118-1A73E078CEEA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1AAAF6DA-023E-9EA8-A4C0-3861D7CC62B4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8BE40-469A-8E65-17C6-CD122849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410" y="2830012"/>
            <a:ext cx="704948" cy="724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1638BD-56C7-22F4-021B-E648F93CB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056" y="2906225"/>
            <a:ext cx="990738" cy="676369"/>
          </a:xfrm>
          <a:prstGeom prst="rect">
            <a:avLst/>
          </a:prstGeom>
        </p:spPr>
      </p:pic>
      <p:pic>
        <p:nvPicPr>
          <p:cNvPr id="8" name="Picture 7" descr="Microsoft Graph API | Drupal.org">
            <a:extLst>
              <a:ext uri="{FF2B5EF4-FFF2-40B4-BE49-F238E27FC236}">
                <a16:creationId xmlns:a16="http://schemas.microsoft.com/office/drawing/2014/main" id="{50F62100-DCBF-228C-A27B-795CFC8D7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949" y="2834220"/>
            <a:ext cx="862990" cy="748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C4CA88-54C7-0DFA-17D9-9BA2E6072A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3926" y="2906225"/>
            <a:ext cx="619211" cy="6192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055D27-1C3E-4189-9C70-E5C21B332221}"/>
              </a:ext>
            </a:extLst>
          </p:cNvPr>
          <p:cNvSpPr txBox="1"/>
          <p:nvPr/>
        </p:nvSpPr>
        <p:spPr>
          <a:xfrm>
            <a:off x="1371357" y="3680706"/>
            <a:ext cx="179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Entra </a:t>
            </a:r>
            <a:r>
              <a:rPr lang="de-CH" dirty="0" err="1"/>
              <a:t>Application</a:t>
            </a:r>
            <a:endParaRPr lang="de-C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EEF01D-4A32-B51A-BAED-F1B8871171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1530" y="3652129"/>
            <a:ext cx="724001" cy="6477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22BE302-CBD5-788F-4D49-37E4E0998F33}"/>
              </a:ext>
            </a:extLst>
          </p:cNvPr>
          <p:cNvSpPr txBox="1"/>
          <p:nvPr/>
        </p:nvSpPr>
        <p:spPr>
          <a:xfrm>
            <a:off x="3678497" y="3726872"/>
            <a:ext cx="1636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err="1"/>
              <a:t>Mail.ReadWrite</a:t>
            </a:r>
            <a:r>
              <a:rPr lang="de-CH" dirty="0"/>
              <a:t>           </a:t>
            </a:r>
          </a:p>
          <a:p>
            <a:r>
              <a:rPr lang="de-CH" dirty="0" err="1"/>
              <a:t>Mail.Send</a:t>
            </a:r>
            <a:r>
              <a:rPr lang="de-CH" dirty="0"/>
              <a:t>             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25D89-426F-F6E0-AA7B-6DC5D1531CE5}"/>
              </a:ext>
            </a:extLst>
          </p:cNvPr>
          <p:cNvSpPr txBox="1"/>
          <p:nvPr/>
        </p:nvSpPr>
        <p:spPr>
          <a:xfrm>
            <a:off x="7460056" y="3793745"/>
            <a:ext cx="23267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Exchange Online</a:t>
            </a:r>
          </a:p>
          <a:p>
            <a:r>
              <a:rPr lang="de-CH" dirty="0"/>
              <a:t>Mailboxes</a:t>
            </a:r>
          </a:p>
          <a:p>
            <a:r>
              <a:rPr lang="de-CH" dirty="0" err="1"/>
              <a:t>ServicePrincipal</a:t>
            </a:r>
            <a:r>
              <a:rPr lang="de-CH" dirty="0"/>
              <a:t> in EXO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F34C34-7546-9083-F806-0EFE9CAFBCAB}"/>
              </a:ext>
            </a:extLst>
          </p:cNvPr>
          <p:cNvSpPr txBox="1"/>
          <p:nvPr/>
        </p:nvSpPr>
        <p:spPr>
          <a:xfrm>
            <a:off x="5609064" y="4426612"/>
            <a:ext cx="1850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Filter:</a:t>
            </a:r>
          </a:p>
          <a:p>
            <a:r>
              <a:rPr lang="de-CH" dirty="0"/>
              <a:t>Distribution Group Member</a:t>
            </a:r>
          </a:p>
        </p:txBody>
      </p:sp>
    </p:spTree>
    <p:extLst>
      <p:ext uri="{BB962C8B-B14F-4D97-AF65-F5344CB8AC3E}">
        <p14:creationId xmlns:p14="http://schemas.microsoft.com/office/powerpoint/2010/main" val="258234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5F8504-5E64-81CC-A46D-F76242C87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dirty="0"/>
              <a:t>EXO RBAC for Applications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30485E-47C1-6161-8B16-E1696FB20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In 2023 the Exchange Team announced </a:t>
            </a:r>
            <a:r>
              <a:rPr lang="en-GB" sz="2400" dirty="0">
                <a:hlinkClick r:id="rId3"/>
              </a:rPr>
              <a:t>RBAC for Applications</a:t>
            </a:r>
            <a:endParaRPr lang="en-GB" sz="2400" dirty="0"/>
          </a:p>
          <a:p>
            <a:pPr marL="0" indent="0">
              <a:buNone/>
            </a:pPr>
            <a:r>
              <a:rPr lang="en-GB" sz="2400" dirty="0"/>
              <a:t>The Entra Application has no Permissions – Everything is handled in EXO RBAC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D0B029-F099-8180-FAC1-A2C81D2F4AF7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4EFE65-F154-4875-3AF5-DFDEB259DEFD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88D5C8-6697-A958-21D6-05DE28E57D7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60455C-135A-AD44-1CA1-9A4DD90DDC4A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263B1F4-B9D0-DCFA-DCD2-205CD608A3FE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0AA801-8DFD-DD2E-3169-15F301EE8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68836"/>
            <a:ext cx="5409280" cy="340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8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Move </a:t>
            </a:r>
            <a:r>
              <a:rPr lang="de-CH" dirty="0" err="1"/>
              <a:t>to</a:t>
            </a:r>
            <a:r>
              <a:rPr lang="de-CH" dirty="0"/>
              <a:t> RBAC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Applications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8539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 August 2025 the Recommendation has changed, and you should move to RBAC for Applications in Exchange Online</a:t>
            </a:r>
            <a:endParaRPr lang="en-DE" sz="24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97E27-EAE0-02DC-EC7B-7885B302FD3A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B8E529-B55F-6354-3F0C-124168D08F4D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764E4E-CBB9-06A7-7F9D-89F997F77D2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965FD7-2C0D-036C-36C2-1186FA33FCA4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2975961-367C-4939-47F9-4E3A4C5A0637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4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9106E-508B-B85B-17CE-992655DE0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75495"/>
            <a:ext cx="7840169" cy="1505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475B90-0BC0-B7DB-F783-9D055221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14551"/>
            <a:ext cx="8400891" cy="150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9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272B44-4998-5785-910A-1DDAC948D50D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AC196B-F7DB-4FCE-BB0B-334976486FAC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E5447C-E4CA-ED17-88DB-5B45087C6A43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733167-B884-2D99-977A-391744B86C1E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694B5-281A-9A2A-7404-C4414FFAE962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68DA6-16AC-073B-3D43-69FEBA6A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Export </a:t>
            </a:r>
            <a:r>
              <a:rPr lang="de-CH" dirty="0" err="1"/>
              <a:t>Application</a:t>
            </a:r>
            <a:r>
              <a:rPr lang="de-CH" dirty="0"/>
              <a:t> Access </a:t>
            </a:r>
            <a:r>
              <a:rPr lang="de-CH" dirty="0" err="1"/>
              <a:t>Policies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1AADC-94AE-1531-4866-420BF2856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653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dirty="0"/>
              <a:t>On </a:t>
            </a:r>
            <a:r>
              <a:rPr lang="de-CH" dirty="0" err="1"/>
              <a:t>paper</a:t>
            </a:r>
            <a:r>
              <a:rPr lang="de-CH" dirty="0"/>
              <a:t>, </a:t>
            </a:r>
            <a:r>
              <a:rPr lang="de-CH" dirty="0" err="1"/>
              <a:t>it’s</a:t>
            </a:r>
            <a:r>
              <a:rPr lang="de-CH" dirty="0"/>
              <a:t> simple: </a:t>
            </a:r>
          </a:p>
          <a:p>
            <a:pPr marL="0" indent="0">
              <a:buNone/>
            </a:pPr>
            <a:r>
              <a:rPr lang="de-CH" dirty="0" err="1"/>
              <a:t>Get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ApplicationAccessPolicies</a:t>
            </a:r>
            <a:r>
              <a:rPr lang="de-CH" dirty="0"/>
              <a:t>, </a:t>
            </a:r>
            <a:r>
              <a:rPr lang="de-CH" dirty="0" err="1"/>
              <a:t>get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Apps, </a:t>
            </a:r>
            <a:r>
              <a:rPr lang="de-CH" dirty="0" err="1"/>
              <a:t>get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permissions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an </a:t>
            </a:r>
            <a:r>
              <a:rPr lang="de-CH" dirty="0" err="1"/>
              <a:t>app</a:t>
            </a:r>
            <a:r>
              <a:rPr lang="de-CH" dirty="0"/>
              <a:t>, </a:t>
            </a:r>
            <a:r>
              <a:rPr lang="de-CH" dirty="0" err="1"/>
              <a:t>get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Distribution Group and </a:t>
            </a:r>
            <a:r>
              <a:rPr lang="de-CH" dirty="0" err="1"/>
              <a:t>export</a:t>
            </a:r>
            <a:r>
              <a:rPr lang="de-CH" dirty="0"/>
              <a:t> </a:t>
            </a:r>
            <a:r>
              <a:rPr lang="de-CH" dirty="0" err="1"/>
              <a:t>it</a:t>
            </a: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dirty="0"/>
              <a:t>Here </a:t>
            </a:r>
            <a:r>
              <a:rPr lang="de-CH" dirty="0" err="1"/>
              <a:t>starts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Journey </a:t>
            </a:r>
            <a:r>
              <a:rPr lang="de-CH" dirty="0" err="1"/>
              <a:t>to</a:t>
            </a:r>
            <a:endParaRPr lang="de-CH" dirty="0"/>
          </a:p>
          <a:p>
            <a:pPr marL="0" indent="0">
              <a:buNone/>
            </a:pPr>
            <a:r>
              <a:rPr lang="de-CH" b="1" dirty="0"/>
              <a:t>Finding App </a:t>
            </a:r>
            <a:r>
              <a:rPr lang="de-CH" b="1" dirty="0" err="1"/>
              <a:t>Permissions</a:t>
            </a:r>
            <a:r>
              <a:rPr lang="de-CH" b="1" dirty="0"/>
              <a:t> in </a:t>
            </a:r>
            <a:r>
              <a:rPr lang="de-CH" b="1" dirty="0" err="1"/>
              <a:t>the</a:t>
            </a:r>
            <a:r>
              <a:rPr lang="de-CH" b="1" dirty="0"/>
              <a:t> Entra Maze</a:t>
            </a:r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4454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Get-</a:t>
            </a:r>
            <a:r>
              <a:rPr lang="en-US" dirty="0" err="1"/>
              <a:t>ApplicationAccessPolicy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TenantID</a:t>
            </a:r>
            <a:r>
              <a:rPr lang="en-US" dirty="0"/>
              <a:t> (yellow)</a:t>
            </a:r>
          </a:p>
          <a:p>
            <a:pPr marL="0" indent="0">
              <a:buNone/>
            </a:pPr>
            <a:r>
              <a:rPr lang="en-US" dirty="0" err="1"/>
              <a:t>AppId</a:t>
            </a:r>
            <a:r>
              <a:rPr lang="en-US" dirty="0"/>
              <a:t> (purple)</a:t>
            </a:r>
          </a:p>
          <a:p>
            <a:pPr marL="0" indent="0">
              <a:buNone/>
            </a:pPr>
            <a:r>
              <a:rPr lang="en-US" dirty="0" err="1"/>
              <a:t>GroupObjectID</a:t>
            </a:r>
            <a:r>
              <a:rPr lang="en-US" dirty="0"/>
              <a:t> (cyan)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92D05C-2503-3A6A-3DE3-B55D7F229DBF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6C0790-57BF-00E5-1B4E-0DE6854F9D27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A618B6-E7DD-4DF4-A91E-F5A3C9834FF9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68478B-CB6A-4790-6C53-B1D2FE93626F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991D4-DBB9-7935-39EB-F801733FD4BA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6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DB56D-1F4E-3BA6-9997-AA50BBBA3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42959"/>
            <a:ext cx="9326277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8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Permissions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Entra Portal shows us the API Permissions</a:t>
            </a:r>
          </a:p>
          <a:p>
            <a:pPr marL="0" indent="0">
              <a:buNone/>
            </a:pPr>
            <a:r>
              <a:rPr lang="en-US" dirty="0" err="1"/>
              <a:t>ProTip</a:t>
            </a:r>
            <a:r>
              <a:rPr lang="en-US" dirty="0"/>
              <a:t>: You should not mix Application and Delegated Permissions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7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62DF1C-EE2E-FDBE-49F6-67B476F7E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89692"/>
            <a:ext cx="11612596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0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Manifest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216" y="1633120"/>
            <a:ext cx="4660232" cy="17958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Graph 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Permissions-reference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8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0A51FE-68FE-5A5A-F4C9-69730FE8B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528255"/>
            <a:ext cx="4915586" cy="275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B64782-6D45-F68B-8ED1-59FC1D477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714386"/>
            <a:ext cx="7878274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6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Delegated Permissions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9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4FE969-C7C5-5B08-5585-47DD42F19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77065"/>
            <a:ext cx="10513420" cy="484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2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Permissions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B884DB-4D98-8D5C-3BF5-8C9B3466B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09584"/>
            <a:ext cx="10995109" cy="36388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035EAE-F30B-12F1-4CF0-91EC3360F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31" y="3035014"/>
            <a:ext cx="7811590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7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that App Permission List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11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06AA3A-6743-BB76-FA20-35321A31B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86" y="1451314"/>
            <a:ext cx="9324975" cy="47815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E13901-E123-33BC-515D-82F118EF9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177" y="2253998"/>
            <a:ext cx="10505483" cy="26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94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Reverse Engineering with DevTools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12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AB5690-585F-D12C-EA29-3F04E0854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94" y="1561839"/>
            <a:ext cx="11869806" cy="18671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B15035-CF01-1BE3-6641-049DB9702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689" y="1561839"/>
            <a:ext cx="8286816" cy="47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1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Distribution Group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13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67F78A-72FD-B1B3-8F92-6C59882FA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0214"/>
            <a:ext cx="10608128" cy="32181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D6E82B-33CC-6396-490E-BEA68B91C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99611"/>
            <a:ext cx="10941887" cy="345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5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it pretty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We’re PowerShell people – so let’s make it pretty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14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1EFA94-5264-5F2C-7006-35087695F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751577"/>
            <a:ext cx="8215643" cy="303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it and </a:t>
            </a:r>
            <a:r>
              <a:rPr lang="en-US" dirty="0" err="1"/>
              <a:t>whe’re</a:t>
            </a:r>
            <a:r>
              <a:rPr lang="en-US" dirty="0"/>
              <a:t> done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73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Exporting Arrays into csv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15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5B1AA4-9665-A956-78E1-30506A2E3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52577"/>
            <a:ext cx="8432942" cy="1237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3B00D8-24B6-394A-D806-993A9CB3B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13" y="4054950"/>
            <a:ext cx="11279174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with a separator character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51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Join Array into String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16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4F6642-9F39-B509-4B58-4D44900FF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48" y="2400156"/>
            <a:ext cx="6468378" cy="2057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980579-9782-2324-D5DC-7FE4052B1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9" y="4607500"/>
            <a:ext cx="12117491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Trick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CH" dirty="0" err="1"/>
              <a:t>Ctrl</a:t>
            </a:r>
            <a:r>
              <a:rPr lang="de-CH" dirty="0"/>
              <a:t> + H. In </a:t>
            </a:r>
            <a:r>
              <a:rPr lang="de-CH" dirty="0" err="1"/>
              <a:t>the</a:t>
            </a:r>
            <a:r>
              <a:rPr lang="de-CH" dirty="0"/>
              <a:t> "Find </a:t>
            </a:r>
            <a:r>
              <a:rPr lang="de-CH" dirty="0" err="1"/>
              <a:t>what</a:t>
            </a:r>
            <a:r>
              <a:rPr lang="de-CH" dirty="0"/>
              <a:t>" box, type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character</a:t>
            </a:r>
            <a:r>
              <a:rPr lang="de-CH" dirty="0"/>
              <a:t> "#" in "</a:t>
            </a:r>
            <a:r>
              <a:rPr lang="de-CH" dirty="0" err="1"/>
              <a:t>Replace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", </a:t>
            </a:r>
            <a:r>
              <a:rPr lang="de-CH" dirty="0" err="1"/>
              <a:t>use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keyboard</a:t>
            </a:r>
            <a:r>
              <a:rPr lang="de-CH" dirty="0"/>
              <a:t> </a:t>
            </a:r>
            <a:r>
              <a:rPr lang="de-CH" dirty="0" err="1"/>
              <a:t>shortcut</a:t>
            </a:r>
            <a:r>
              <a:rPr lang="de-CH" dirty="0"/>
              <a:t> </a:t>
            </a:r>
            <a:r>
              <a:rPr lang="de-CH" dirty="0" err="1"/>
              <a:t>Ctrl</a:t>
            </a:r>
            <a:r>
              <a:rPr lang="de-CH" dirty="0"/>
              <a:t> + J </a:t>
            </a:r>
            <a:r>
              <a:rPr lang="de-CH" dirty="0" err="1"/>
              <a:t>for</a:t>
            </a:r>
            <a:r>
              <a:rPr lang="de-CH" dirty="0"/>
              <a:t> a </a:t>
            </a:r>
            <a:r>
              <a:rPr lang="de-CH" dirty="0" err="1"/>
              <a:t>line</a:t>
            </a:r>
            <a:r>
              <a:rPr lang="de-CH" dirty="0"/>
              <a:t> break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17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6F6942-4CEC-8D6C-D034-21540517A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9" y="2964202"/>
            <a:ext cx="12117491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11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Accomplished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09" y="1567418"/>
            <a:ext cx="10515600" cy="4177595"/>
          </a:xfrm>
        </p:spPr>
        <p:txBody>
          <a:bodyPr>
            <a:normAutofit/>
          </a:bodyPr>
          <a:lstStyle/>
          <a:p>
            <a:r>
              <a:rPr lang="de-CH" dirty="0" err="1"/>
              <a:t>Get</a:t>
            </a:r>
            <a:r>
              <a:rPr lang="de-CH" dirty="0"/>
              <a:t> </a:t>
            </a:r>
            <a:r>
              <a:rPr lang="de-CH" dirty="0" err="1"/>
              <a:t>ApplicationAccessPolicy</a:t>
            </a:r>
            <a:endParaRPr lang="de-CH" dirty="0"/>
          </a:p>
          <a:p>
            <a:r>
              <a:rPr lang="de-CH" dirty="0" err="1"/>
              <a:t>Get</a:t>
            </a:r>
            <a:r>
              <a:rPr lang="de-CH" dirty="0"/>
              <a:t> Entra </a:t>
            </a:r>
            <a:r>
              <a:rPr lang="de-CH" dirty="0" err="1"/>
              <a:t>Application</a:t>
            </a:r>
            <a:r>
              <a:rPr lang="de-CH"/>
              <a:t> Details</a:t>
            </a:r>
            <a:endParaRPr lang="de-CH" dirty="0"/>
          </a:p>
          <a:p>
            <a:r>
              <a:rPr lang="de-CH" dirty="0" err="1"/>
              <a:t>Get</a:t>
            </a:r>
            <a:r>
              <a:rPr lang="de-CH" dirty="0"/>
              <a:t> Distribution Group Name and Members</a:t>
            </a:r>
          </a:p>
          <a:p>
            <a:r>
              <a:rPr lang="de-CH" dirty="0" err="1"/>
              <a:t>Get</a:t>
            </a:r>
            <a:r>
              <a:rPr lang="de-CH" dirty="0"/>
              <a:t> </a:t>
            </a:r>
            <a:r>
              <a:rPr lang="de-CH" dirty="0" err="1"/>
              <a:t>Delegated</a:t>
            </a:r>
            <a:r>
              <a:rPr lang="de-CH" dirty="0"/>
              <a:t> and </a:t>
            </a:r>
            <a:r>
              <a:rPr lang="de-CH" dirty="0" err="1"/>
              <a:t>Application</a:t>
            </a:r>
            <a:r>
              <a:rPr lang="de-CH" dirty="0"/>
              <a:t> </a:t>
            </a:r>
            <a:r>
              <a:rPr lang="de-CH" dirty="0" err="1"/>
              <a:t>Permissions</a:t>
            </a:r>
            <a:endParaRPr lang="de-CH" dirty="0"/>
          </a:p>
          <a:p>
            <a:r>
              <a:rPr lang="de-CH" dirty="0"/>
              <a:t>Export </a:t>
            </a:r>
            <a:r>
              <a:rPr lang="de-CH" dirty="0" err="1"/>
              <a:t>Result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CSV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18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42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Showed</a:t>
            </a:r>
            <a:r>
              <a:rPr lang="de-CH" dirty="0"/>
              <a:t> </a:t>
            </a:r>
            <a:r>
              <a:rPr lang="de-CH" dirty="0" err="1"/>
              <a:t>you</a:t>
            </a:r>
            <a:r>
              <a:rPr lang="de-CH" dirty="0"/>
              <a:t> Exchange Online </a:t>
            </a:r>
            <a:r>
              <a:rPr lang="de-CH" dirty="0" err="1"/>
              <a:t>ApplicationAccessPolicy</a:t>
            </a:r>
            <a:endParaRPr lang="de-CH" dirty="0"/>
          </a:p>
          <a:p>
            <a:r>
              <a:rPr lang="de-CH" dirty="0" err="1"/>
              <a:t>Get</a:t>
            </a:r>
            <a:r>
              <a:rPr lang="de-CH" dirty="0"/>
              <a:t> </a:t>
            </a:r>
            <a:r>
              <a:rPr lang="de-CH" dirty="0" err="1"/>
              <a:t>delegated</a:t>
            </a:r>
            <a:r>
              <a:rPr lang="de-CH" dirty="0"/>
              <a:t> and </a:t>
            </a:r>
            <a:r>
              <a:rPr lang="de-CH" dirty="0" err="1"/>
              <a:t>application</a:t>
            </a:r>
            <a:r>
              <a:rPr lang="de-CH" dirty="0"/>
              <a:t> </a:t>
            </a:r>
            <a:r>
              <a:rPr lang="de-CH" dirty="0" err="1"/>
              <a:t>permissions</a:t>
            </a:r>
            <a:endParaRPr lang="de-CH" dirty="0"/>
          </a:p>
          <a:p>
            <a:r>
              <a:rPr lang="de-CH" dirty="0" err="1"/>
              <a:t>Generic</a:t>
            </a:r>
            <a:r>
              <a:rPr lang="de-CH" dirty="0"/>
              <a:t> </a:t>
            </a:r>
            <a:r>
              <a:rPr lang="de-CH" dirty="0" err="1"/>
              <a:t>approach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get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Permissions</a:t>
            </a:r>
            <a:endParaRPr lang="de-CH" dirty="0"/>
          </a:p>
          <a:p>
            <a:r>
              <a:rPr lang="de-CH" dirty="0"/>
              <a:t>Extras</a:t>
            </a:r>
          </a:p>
          <a:p>
            <a:pPr lvl="1"/>
            <a:r>
              <a:rPr lang="de-CH" dirty="0">
                <a:solidFill>
                  <a:schemeClr val="tx1"/>
                </a:solidFill>
              </a:rPr>
              <a:t>Export Objects </a:t>
            </a:r>
            <a:r>
              <a:rPr lang="de-CH" dirty="0" err="1">
                <a:solidFill>
                  <a:schemeClr val="tx1"/>
                </a:solidFill>
              </a:rPr>
              <a:t>or</a:t>
            </a:r>
            <a:r>
              <a:rPr lang="de-CH" dirty="0">
                <a:solidFill>
                  <a:schemeClr val="tx1"/>
                </a:solidFill>
              </a:rPr>
              <a:t> Arrays </a:t>
            </a:r>
            <a:r>
              <a:rPr lang="de-CH" dirty="0" err="1">
                <a:solidFill>
                  <a:schemeClr val="tx1"/>
                </a:solidFill>
              </a:rPr>
              <a:t>to</a:t>
            </a:r>
            <a:r>
              <a:rPr lang="de-CH" dirty="0">
                <a:solidFill>
                  <a:schemeClr val="tx1"/>
                </a:solidFill>
              </a:rPr>
              <a:t> CSV</a:t>
            </a:r>
          </a:p>
          <a:p>
            <a:pPr lvl="1"/>
            <a:r>
              <a:rPr lang="de-CH" dirty="0" err="1">
                <a:solidFill>
                  <a:schemeClr val="tx1"/>
                </a:solidFill>
              </a:rPr>
              <a:t>Showed</a:t>
            </a:r>
            <a:r>
              <a:rPr lang="de-CH" dirty="0">
                <a:solidFill>
                  <a:schemeClr val="tx1"/>
                </a:solidFill>
              </a:rPr>
              <a:t> </a:t>
            </a:r>
            <a:r>
              <a:rPr lang="de-CH" dirty="0" err="1">
                <a:solidFill>
                  <a:schemeClr val="tx1"/>
                </a:solidFill>
              </a:rPr>
              <a:t>you</a:t>
            </a:r>
            <a:r>
              <a:rPr lang="de-CH" dirty="0">
                <a:solidFill>
                  <a:schemeClr val="tx1"/>
                </a:solidFill>
              </a:rPr>
              <a:t> </a:t>
            </a:r>
            <a:r>
              <a:rPr lang="de-CH" dirty="0" err="1">
                <a:solidFill>
                  <a:schemeClr val="tx1"/>
                </a:solidFill>
              </a:rPr>
              <a:t>some</a:t>
            </a:r>
            <a:r>
              <a:rPr lang="de-CH" dirty="0">
                <a:solidFill>
                  <a:schemeClr val="tx1"/>
                </a:solidFill>
              </a:rPr>
              <a:t> Excel </a:t>
            </a:r>
            <a:r>
              <a:rPr lang="de-CH" dirty="0" err="1">
                <a:solidFill>
                  <a:schemeClr val="tx1"/>
                </a:solidFill>
              </a:rPr>
              <a:t>Tips</a:t>
            </a:r>
            <a:endParaRPr lang="de-CH" dirty="0">
              <a:solidFill>
                <a:schemeClr val="tx1"/>
              </a:solidFill>
            </a:endParaRPr>
          </a:p>
          <a:p>
            <a:pPr lvl="1"/>
            <a:r>
              <a:rPr lang="de-CH" dirty="0" err="1">
                <a:solidFill>
                  <a:schemeClr val="tx1"/>
                </a:solidFill>
              </a:rPr>
              <a:t>Added</a:t>
            </a:r>
            <a:r>
              <a:rPr lang="de-CH" dirty="0">
                <a:solidFill>
                  <a:schemeClr val="tx1"/>
                </a:solidFill>
              </a:rPr>
              <a:t> Owner and Tags </a:t>
            </a:r>
            <a:r>
              <a:rPr lang="de-CH" dirty="0" err="1">
                <a:solidFill>
                  <a:schemeClr val="tx1"/>
                </a:solidFill>
              </a:rPr>
              <a:t>this</a:t>
            </a:r>
            <a:r>
              <a:rPr lang="de-CH" dirty="0">
                <a:solidFill>
                  <a:schemeClr val="tx1"/>
                </a:solidFill>
              </a:rPr>
              <a:t> Morning</a:t>
            </a:r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19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98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final slide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Script has been published at GitHub</a:t>
            </a:r>
          </a:p>
          <a:p>
            <a:pPr marL="0" indent="0">
              <a:buNone/>
            </a:pPr>
            <a:r>
              <a:rPr lang="en-US" sz="2400" dirty="0">
                <a:hlinkClick r:id="rId3"/>
              </a:rPr>
              <a:t>https://github.com/BohrenAn/GitHub_PowerShellScripts/blob/main/ExchangeOnline/ExportEXOApplicationAccessPolicy.ps1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Blog Article on </a:t>
            </a:r>
            <a:r>
              <a:rPr lang="en-US" sz="2400" dirty="0">
                <a:hlinkClick r:id="rId4"/>
              </a:rPr>
              <a:t>https://blog.icewolf.ch</a:t>
            </a:r>
            <a:r>
              <a:rPr lang="en-US" sz="2400" dirty="0"/>
              <a:t> will come soon…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09A9BB-BFD1-E35F-17B5-4781BF3E329E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24687B-05D6-BC4A-2BE3-85D3F1D86069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635DCE-78DB-A79B-7FDC-4FC25A5F9CD7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147227-4295-537D-8F4B-9188F317B12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A16A3F6-0EA4-AD2B-A547-2FB5B80292A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759165-8253-5EE0-3974-D38CA0882B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714" y="3500332"/>
            <a:ext cx="9734413" cy="272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25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final comment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ABFBD8-D45D-C9C1-C74C-4AD690148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/>
              <a:t>Leo Visser added a nice animation to his PoShaKucha in 2025:</a:t>
            </a:r>
            <a:br>
              <a:rPr lang="en-US" sz="2800"/>
            </a:br>
            <a:r>
              <a:rPr lang="en-US" sz="2800"/>
              <a:t>a growing horizontal red line. You can watch his presentation here:</a:t>
            </a:r>
            <a:br>
              <a:rPr lang="en-US" sz="2800"/>
            </a:br>
            <a:endParaRPr lang="en-US" sz="2800"/>
          </a:p>
          <a:p>
            <a:r>
              <a:rPr lang="en-US" sz="2400"/>
              <a:t>https://youtu.be/ThPuQAvoHGM  (Side deck </a:t>
            </a:r>
            <a:r>
              <a:rPr lang="en-US" sz="2400">
                <a:hlinkClick r:id="rId3"/>
              </a:rPr>
              <a:t>here</a:t>
            </a:r>
            <a:r>
              <a:rPr lang="en-US" sz="2400"/>
              <a:t>)</a:t>
            </a:r>
          </a:p>
          <a:p>
            <a:endParaRPr lang="de-DE" sz="2400"/>
          </a:p>
          <a:p>
            <a:pPr marL="0" indent="0">
              <a:buNone/>
            </a:pPr>
            <a:r>
              <a:rPr lang="en-US" sz="2800"/>
              <a:t>If you find that more appealing, feel free to use his idea. </a:t>
            </a:r>
            <a:br>
              <a:rPr lang="en-US" sz="2800"/>
            </a:br>
            <a:r>
              <a:rPr lang="en-US" sz="2800"/>
              <a:t>You find the animated red line here above. </a:t>
            </a:r>
            <a:br>
              <a:rPr lang="en-US" sz="2800"/>
            </a:br>
            <a:r>
              <a:rPr lang="en-US" sz="2800"/>
              <a:t>But be careful, only use one animation – otherwise  </a:t>
            </a:r>
            <a:br>
              <a:rPr lang="en-US" sz="2800"/>
            </a:br>
            <a:r>
              <a:rPr lang="en-US" sz="2800"/>
              <a:t>it can confuse PowerPoint.</a:t>
            </a:r>
            <a:endParaRPr lang="en-DE" sz="320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21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08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bbad84-29f0-4e03-8d34-f6841a5071ad}" enabled="0" method="" siteId="{46bbad84-29f0-4e03-8d34-f6841a5071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Office PowerPoint</Application>
  <PresentationFormat>Breitbild</PresentationFormat>
  <Paragraphs>144</Paragraphs>
  <Slides>22</Slides>
  <Notes>21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22</vt:i4>
      </vt:variant>
    </vt:vector>
  </HeadingPairs>
  <TitlesOfParts>
    <vt:vector size="32" baseType="lpstr">
      <vt:lpstr>-apple-system</vt:lpstr>
      <vt:lpstr>Arial</vt:lpstr>
      <vt:lpstr>Calibri</vt:lpstr>
      <vt:lpstr>Segoe UI</vt:lpstr>
      <vt:lpstr>Segoe UI Light</vt:lpstr>
      <vt:lpstr>Stencil</vt:lpstr>
      <vt:lpstr>Wingdings</vt:lpstr>
      <vt:lpstr>Blank</vt:lpstr>
      <vt:lpstr>Speaker's slide</vt:lpstr>
      <vt:lpstr>Content</vt:lpstr>
      <vt:lpstr>Your session title / Your name</vt:lpstr>
      <vt:lpstr>Finding App Permissions in the  Entra Maze</vt:lpstr>
      <vt:lpstr>EXO Application Access Policy</vt:lpstr>
      <vt:lpstr>EXO RBAC for Applications</vt:lpstr>
      <vt:lpstr>Move to RBAC for Applications</vt:lpstr>
      <vt:lpstr>Export Application Access Policies</vt:lpstr>
      <vt:lpstr>Get-ApplicationAccessPolicy</vt:lpstr>
      <vt:lpstr>Application Permissions</vt:lpstr>
      <vt:lpstr>Application Manifest</vt:lpstr>
      <vt:lpstr>Delegated Permissions</vt:lpstr>
      <vt:lpstr>Application Permissions</vt:lpstr>
      <vt:lpstr>Get that App Permission List</vt:lpstr>
      <vt:lpstr>Reverse Engineering with DevTools</vt:lpstr>
      <vt:lpstr>Distribution Group</vt:lpstr>
      <vt:lpstr>Make it pretty</vt:lpstr>
      <vt:lpstr>Save it and whe’re done</vt:lpstr>
      <vt:lpstr>Join with a separator character</vt:lpstr>
      <vt:lpstr>Excel Trick</vt:lpstr>
      <vt:lpstr>Mission Accomplished</vt:lpstr>
      <vt:lpstr>Summary</vt:lpstr>
      <vt:lpstr>The final slide</vt:lpstr>
      <vt:lpstr>A final comment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2026-07-06T14:55:15Z</dcterms:created>
  <dcterms:modified xsi:type="dcterms:W3CDTF">2026-07-06T14:55:28Z</dcterms:modified>
</cp:coreProperties>
</file>