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slideLayouts/slideLayout12.xml" ContentType="application/vnd.openxmlformats-officedocument.presentationml.slideLayout+xml"/>
  <Override PartName="/ppt/theme/theme11.xml" ContentType="application/vnd.openxmlformats-officedocument.theme+xml"/>
  <Override PartName="/ppt/slideLayouts/slideLayout13.xml" ContentType="application/vnd.openxmlformats-officedocument.presentationml.slideLayout+xml"/>
  <Override PartName="/ppt/theme/theme12.xml" ContentType="application/vnd.openxmlformats-officedocument.theme+xml"/>
  <Override PartName="/ppt/slideLayouts/slideLayout14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5" r:id="rId9"/>
    <p:sldMasterId id="2147483667" r:id="rId10"/>
    <p:sldMasterId id="2147483669" r:id="rId11"/>
    <p:sldMasterId id="2147483671" r:id="rId12"/>
    <p:sldMasterId id="2147483673" r:id="rId13"/>
    <p:sldMasterId id="2147483675" r:id="rId14"/>
    <p:sldMasterId id="2147483676" r:id="rId15"/>
  </p:sldMasterIdLst>
  <p:notesMasterIdLst>
    <p:notesMasterId r:id="rId37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BB7D0A-F22A-444C-9F0A-9CEF84625CDB}" v="1" dt="2026-06-03T13:40:11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viewProps" Target="viewProps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7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8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3ADB23-ADE9-4333-B9E2-A7649AD22D2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0: this slide will not automatically turned over. Show this BEFORE the acutal presentation starts.</a:t>
            </a:r>
          </a:p>
        </p:txBody>
      </p:sp>
      <p:sp>
        <p:nvSpPr>
          <p:cNvPr id="34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BB8149-9A1E-42D9-AD6F-612F0E9F07DD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17932B-5B69-4D66-A3C5-A986C6A06D81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208E0A-7829-4DE4-8B33-DA40BAF2277B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5D3DA1-A0C4-4AB8-A990-B25739439BD9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6F4C55-6788-4DFC-8B05-CE8F189ED632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F6859B-3CB7-4339-B020-B7B35CDD8C6C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C29CCD-0849-4C27-9996-67D60CCE8376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9C1C61-A9BD-4229-8C8A-9D1D664BDE9E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71DC51-9B97-4FD3-BBA4-569850A3F43F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AE050E-31F3-4E96-A96D-1CD529598BB2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BE5654-EC97-42F0-B2B0-E89846D72A24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E26F61-6779-46CF-8BAE-8BCB0A0EDCE4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579D88-2399-46DF-9879-1477C064352F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125610-2685-41A5-9735-447185308DAB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09B161-A81B-4849-9774-B464374D6656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00F719-29B3-486A-B0C1-E11C0E17A513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C3CDBB-7AE0-406C-A0B6-BF67F2DE7203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8430A0-170D-4A1B-9148-CE64D8132AE7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588A6D-BCEA-4FDE-AD79-F29DC9FCAFE1}" type="slidenum"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11" Type="http://schemas.openxmlformats.org/officeDocument/2006/relationships/image" Target="../media/image9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theme" Target="../theme/theme8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5.sv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svg"/><Relationship Id="rId11" Type="http://schemas.openxmlformats.org/officeDocument/2006/relationships/image" Target="../media/image9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.png"/><Relationship Id="rId7" Type="http://schemas.openxmlformats.org/officeDocument/2006/relationships/image" Target="../media/image4.sv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svg"/><Relationship Id="rId5" Type="http://schemas.openxmlformats.org/officeDocument/2006/relationships/image" Target="../media/image7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theme" Target="../theme/theme14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theme" Target="../theme/theme15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de-DE" sz="25000" b="0" u="none" strike="noStrike">
                <a:solidFill>
                  <a:schemeClr val="dk1"/>
                </a:solidFill>
                <a:effectLst/>
                <a:uFillTx/>
                <a:latin typeface="Stencil"/>
              </a:rPr>
              <a:t> </a:t>
            </a:r>
            <a:endParaRPr lang="en-US" sz="2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de-DE" sz="25000" b="0" u="none" strike="noStrike">
                <a:solidFill>
                  <a:schemeClr val="dk1"/>
                </a:solidFill>
                <a:effectLst/>
                <a:uFillTx/>
                <a:latin typeface="Stencil"/>
              </a:rPr>
              <a:t> </a:t>
            </a:r>
            <a:endParaRPr lang="en-US" sz="2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de-DE" sz="25000" b="0" u="none" strike="noStrike">
                <a:solidFill>
                  <a:schemeClr val="dk1"/>
                </a:solidFill>
                <a:effectLst/>
                <a:uFillTx/>
                <a:latin typeface="Stencil"/>
              </a:rPr>
              <a:t> </a:t>
            </a:r>
            <a:endParaRPr lang="en-US" sz="2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de-DE" sz="25000" b="0" u="none" strike="noStrike">
                <a:solidFill>
                  <a:schemeClr val="dk1"/>
                </a:solidFill>
                <a:effectLst/>
                <a:uFillTx/>
                <a:latin typeface="Stencil"/>
              </a:rPr>
              <a:t> </a:t>
            </a:r>
            <a:endParaRPr lang="en-US" sz="2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Image 1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60600" y="703620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Grafik 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Grafik 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rafik 5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Grafik 7" descr="Ein Bild, das Schmetterling, Nachtfalter und Schmetterlinge, Kreativität enthält.&#10;&#10;KI-generierte Inhalte können fehlerhaft sein."/>
          <p:cNvPicPr/>
          <p:nvPr/>
        </p:nvPicPr>
        <p:blipFill>
          <a:blip r:embed="rId8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feld 10"/>
          <p:cNvSpPr/>
          <p:nvPr/>
        </p:nvSpPr>
        <p:spPr>
          <a:xfrm>
            <a:off x="5787720" y="7738560"/>
            <a:ext cx="2948760" cy="639000"/>
          </a:xfrm>
          <a:prstGeom prst="rect">
            <a:avLst/>
          </a:prstGeom>
          <a:solidFill>
            <a:schemeClr val="lt1">
              <a:alpha val="48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Choose your favorite service!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3467160" y="1852920"/>
            <a:ext cx="7886160" cy="432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Your bio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3467160" y="324720"/>
            <a:ext cx="78861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rgbClr val="3B2B46"/>
                </a:solidFill>
                <a:effectLst/>
                <a:uFillTx/>
                <a:latin typeface="Calibri Light"/>
              </a:rPr>
              <a:t>Speaker’s name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10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9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Image 11" descr="Une image contenant Police, Graphique, capture d’écran, graphisme&#10;&#10;Le contenu généré par l’IA peut être incorrect."/>
          <p:cNvPicPr/>
          <p:nvPr/>
        </p:nvPicPr>
        <p:blipFill>
          <a:blip r:embed="rId10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60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9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10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9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Image 11" descr="Une image contenant Police, Graphique, capture d’écran, graphisme&#10;&#10;Le contenu généré par l’IA peut être incorrect."/>
          <p:cNvPicPr/>
          <p:nvPr/>
        </p:nvPicPr>
        <p:blipFill>
          <a:blip r:embed="rId10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Rectangle 17"/>
          <p:cNvSpPr/>
          <p:nvPr/>
        </p:nvSpPr>
        <p:spPr>
          <a:xfrm>
            <a:off x="6636600" y="6336000"/>
            <a:ext cx="364680" cy="521640"/>
          </a:xfrm>
          <a:prstGeom prst="rect">
            <a:avLst/>
          </a:prstGeom>
          <a:solidFill>
            <a:srgbClr val="346297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GB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2" name="Graphique 2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702480" y="6400800"/>
            <a:ext cx="233280" cy="23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Second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6" descr="Une image contenant texte&#10;&#10;Description générée automatiquement"/>
          <p:cNvPicPr/>
          <p:nvPr/>
        </p:nvPicPr>
        <p:blipFill>
          <a:blip r:embed="rId4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0" descr="Une image contenant capture d’écran, ligne, Graphique, Bleu électrique&#10;&#10;Description générée automatiquement"/>
          <p:cNvPicPr/>
          <p:nvPr/>
        </p:nvPicPr>
        <p:blipFill>
          <a:blip r:embed="rId5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10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 11" descr="Une image contenant Police, Graphique, capture d’écran, graphisme&#10;&#10;Le contenu généré par l’IA peut être incorrect."/>
          <p:cNvPicPr/>
          <p:nvPr/>
        </p:nvPicPr>
        <p:blipFill>
          <a:blip r:embed="rId11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Second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pic>
        <p:nvPicPr>
          <p:cNvPr id="68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10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9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 11" descr="Une image contenant Police, Graphique, capture d’écran, graphisme&#10;&#10;Le contenu généré par l’IA peut être incorrect."/>
          <p:cNvPicPr/>
          <p:nvPr/>
        </p:nvPicPr>
        <p:blipFill>
          <a:blip r:embed="rId10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raphique 23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702480" y="6400800"/>
            <a:ext cx="233280" cy="23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5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10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9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Image 11" descr="Une image contenant Police, Graphique, capture d’écran, graphisme&#10;&#10;Le contenu généré par l’IA peut être incorrect."/>
          <p:cNvPicPr/>
          <p:nvPr/>
        </p:nvPicPr>
        <p:blipFill>
          <a:blip r:embed="rId10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Second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346297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Second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pic>
        <p:nvPicPr>
          <p:cNvPr id="101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10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9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Image 11" descr="Une image contenant Police, Graphique, capture d’écran, graphisme&#10;&#10;Le contenu généré par l’IA peut être incorrect."/>
          <p:cNvPicPr/>
          <p:nvPr/>
        </p:nvPicPr>
        <p:blipFill>
          <a:blip r:embed="rId10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972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346297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Second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346297"/>
              </a:buClr>
              <a:buFont typeface="Wingdings" charset="2"/>
              <a:buChar char=""/>
            </a:pPr>
            <a:r>
              <a:rPr lang="en-US" sz="32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Second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pic>
        <p:nvPicPr>
          <p:cNvPr id="119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10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9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 11" descr="Une image contenant Police, Graphique, capture d’écran, graphisme&#10;&#10;Le contenu généré par l’IA peut être incorrect."/>
          <p:cNvPicPr/>
          <p:nvPr/>
        </p:nvPicPr>
        <p:blipFill>
          <a:blip r:embed="rId10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 6" descr="Une image contenant texte&#10;&#10;Description générée automatiquement"/>
          <p:cNvPicPr/>
          <p:nvPr/>
        </p:nvPicPr>
        <p:blipFill>
          <a:blip r:embed="rId3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10" descr="Une image contenant capture d’écran, ligne, Graphique, Bleu électrique&#10;&#10;Description générée automatiquement"/>
          <p:cNvPicPr/>
          <p:nvPr/>
        </p:nvPicPr>
        <p:blipFill>
          <a:blip r:embed="rId4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9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Image 11" descr="Une image contenant Police, Graphique, capture d’écran, graphisme&#10;&#10;Le contenu généré par l’IA peut être incorrect."/>
          <p:cNvPicPr/>
          <p:nvPr/>
        </p:nvPicPr>
        <p:blipFill>
          <a:blip r:embed="rId10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pic>
        <p:nvPicPr>
          <p:cNvPr id="147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665400" y="637200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 6" descr="Une image contenant texte&#10;&#10;Description générée automatiquement"/>
          <p:cNvPicPr/>
          <p:nvPr/>
        </p:nvPicPr>
        <p:blipFill>
          <a:blip r:embed="rId2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10" descr="Une image contenant capture d’écran, ligne, Graphique, Bleu électrique&#10;&#10;Description générée automatiquement"/>
          <p:cNvPicPr/>
          <p:nvPr/>
        </p:nvPicPr>
        <p:blipFill>
          <a:blip r:embed="rId3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8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Image 11" descr="Une image contenant Police, Graphique, capture d’écran, graphisme&#10;&#10;Le contenu généré par l’IA peut être incorrect."/>
          <p:cNvPicPr/>
          <p:nvPr/>
        </p:nvPicPr>
        <p:blipFill>
          <a:blip r:embed="rId9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346297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pic>
        <p:nvPicPr>
          <p:cNvPr id="162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Image 6" descr="Une image contenant texte&#10;&#10;Description générée automatiquement"/>
          <p:cNvPicPr/>
          <p:nvPr/>
        </p:nvPicPr>
        <p:blipFill>
          <a:blip r:embed="rId2"/>
          <a:stretch/>
        </p:blipFill>
        <p:spPr>
          <a:xfrm>
            <a:off x="2520" y="0"/>
            <a:ext cx="1218924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Espace réservé du numéro de diapositive 5"/>
          <p:cNvSpPr/>
          <p:nvPr/>
        </p:nvSpPr>
        <p:spPr>
          <a:xfrm>
            <a:off x="7001640" y="6336000"/>
            <a:ext cx="38206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1" u="none" strike="noStrike">
                <a:solidFill>
                  <a:srgbClr val="346296"/>
                </a:solidFill>
                <a:effectLst/>
                <a:uFillTx/>
                <a:latin typeface="Calibri"/>
              </a:rPr>
              <a:t>@schusterfredl.bsky.social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10" descr="Une image contenant capture d’écran, ligne, Graphique, Bleu électrique&#10;&#10;Description générée automatiquement"/>
          <p:cNvPicPr/>
          <p:nvPr/>
        </p:nvPicPr>
        <p:blipFill>
          <a:blip r:embed="rId3"/>
          <a:stretch/>
        </p:blipFill>
        <p:spPr>
          <a:xfrm>
            <a:off x="8795160" y="7122960"/>
            <a:ext cx="342360" cy="35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Graphique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822680" y="196560"/>
            <a:ext cx="1061640" cy="90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62880" y="7041240"/>
            <a:ext cx="59904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rafik 12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361640" y="7017120"/>
            <a:ext cx="52812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Grafik 14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060040" y="7015680"/>
            <a:ext cx="564480" cy="56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Grafik 16" descr="Ein Bild, das Schmetterling, Nachtfalter und Schmetterlinge, Kreativität enthält.&#10;&#10;KI-generierte Inhalte können fehlerhaft sein."/>
          <p:cNvPicPr/>
          <p:nvPr/>
        </p:nvPicPr>
        <p:blipFill>
          <a:blip r:embed="rId8"/>
          <a:stretch/>
        </p:blipFill>
        <p:spPr>
          <a:xfrm>
            <a:off x="5904720" y="7036200"/>
            <a:ext cx="597240" cy="5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Image 11" descr="Une image contenant Police, Graphique, capture d’écran, graphisme&#10;&#10;Le contenu généré par l’IA peut être incorrect."/>
          <p:cNvPicPr/>
          <p:nvPr/>
        </p:nvPicPr>
        <p:blipFill>
          <a:blip r:embed="rId9"/>
          <a:stretch/>
        </p:blipFill>
        <p:spPr>
          <a:xfrm>
            <a:off x="10799640" y="1147320"/>
            <a:ext cx="1168920" cy="37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1" u="none" strike="noStrike">
                <a:solidFill>
                  <a:srgbClr val="3B2B46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pic>
        <p:nvPicPr>
          <p:cNvPr id="175" name="Grafik 7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665760" y="6372360"/>
            <a:ext cx="370440" cy="365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github.com/mwallner/PSQuickXml" TargetMode="External"/><Relationship Id="rId4" Type="http://schemas.openxmlformats.org/officeDocument/2006/relationships/hyperlink" Target="https://github.com/mwallner/xml-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009080" y="63108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hard can it be to count a few XML nodes?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hteck: abgerundete Ecken 4"/>
          <p:cNvSpPr/>
          <p:nvPr/>
        </p:nvSpPr>
        <p:spPr>
          <a:xfrm>
            <a:off x="1089720" y="1810440"/>
            <a:ext cx="9873360" cy="362016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3B2A47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4" name="Graphique 6"/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542240" y="2226240"/>
            <a:ext cx="8666640" cy="2650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Performance Myth-Busting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86" name="Straight Connector 1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187" name="Straight Connector 2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188" name="Straight Connector 12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189" name="Straight Connector 13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190" name="Rectangle 14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34B90E57-CC27-4B9A-9C20-5BD14D005E6F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4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“language X” is slow to do &lt;something&gt;</a:t>
            </a: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But actually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library / implementation is key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I Care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93" name="Straight Connector 47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194" name="Straight Connector 48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195" name="Straight Connector 49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196" name="Straight Connector 50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197" name="Rectangle 51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64C662FE-B2CB-4B6A-BDF9-631832F27672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2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8384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 in Automotive Engineering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configuration and measurement-Data parsers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C++ / XSLT / C# / Rust / PowerShell</a:t>
            </a: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“xml-i” – personal pet-project to test assumptions and experiment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fr-FR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Same CLI, Many Implementations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00" name="Straight Connector 15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01" name="Straight Connector 16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02" name="Straight Connector 17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03" name="Straight Connector 18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04" name="Rectangle 19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0964FB81-82F6-4664-A342-17C96BCFA43D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3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8744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xml-i (“xml eye”): count XML node names</a:t>
            </a: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Liberation Mono;Courier New"/>
                <a:ea typeface="Liberation Mono;Courier New"/>
              </a:rPr>
              <a:t>    ./target/release/xml-i ./test/huge.xml boing blips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Liberation Mono;Courier New"/>
                <a:ea typeface="Liberation Mono;Courier New"/>
              </a:rPr>
              <a:t>      Node counts: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Liberation Mono;Courier New"/>
                <a:ea typeface="Liberation Mono;Courier New"/>
              </a:rPr>
              <a:t>      boing: 1342440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Liberation Mono;Courier New"/>
                <a:ea typeface="Liberation Mono;Courier New"/>
              </a:rPr>
              <a:t>      Blips: 1279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Liberation Mono;Courier New"/>
                <a:ea typeface="Liberation Mono;Courier New"/>
              </a:rPr>
              <a:t>    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“alien” Folder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3886200" y="1825560"/>
            <a:ext cx="7467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./src/* → the baseline </a:t>
            </a: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./alien/* → different languages/implementations</a:t>
            </a: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08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09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10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11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12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48B0678B-6D1C-4CAE-B605-FD285B5568E8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4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Picture 212"/>
          <p:cNvPicPr/>
          <p:nvPr/>
        </p:nvPicPr>
        <p:blipFill>
          <a:blip r:embed="rId2"/>
          <a:stretch/>
        </p:blipFill>
        <p:spPr>
          <a:xfrm>
            <a:off x="1352880" y="1495800"/>
            <a:ext cx="2304720" cy="5362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Benchmarking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5257800" y="1825560"/>
            <a:ext cx="60955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reproducible setup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same test file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same language/stacks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I/O cold-start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/proc/sys/vm/drop_caches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comparable</a:t>
            </a:r>
          </a:p>
        </p:txBody>
      </p:sp>
      <p:cxnSp>
        <p:nvCxnSpPr>
          <p:cNvPr id="216" name="Straight Connector 8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17" name="Straight Connector 1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18" name="Straight Connector 2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19" name="Straight Connector 2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20" name="Rectangle 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B95C5CE5-C008-430C-92F1-EA0A870B7213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5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Picture 220"/>
          <p:cNvPicPr/>
          <p:nvPr/>
        </p:nvPicPr>
        <p:blipFill>
          <a:blip r:embed="rId3"/>
          <a:stretch/>
        </p:blipFill>
        <p:spPr>
          <a:xfrm>
            <a:off x="456840" y="1600200"/>
            <a:ext cx="4800960" cy="473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221"/>
          <p:cNvPicPr/>
          <p:nvPr/>
        </p:nvPicPr>
        <p:blipFill>
          <a:blip r:embed="rId4"/>
          <a:srcRect l="15347" t="16617"/>
          <a:stretch/>
        </p:blipFill>
        <p:spPr>
          <a:xfrm>
            <a:off x="457200" y="1600200"/>
            <a:ext cx="4809960" cy="4738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Straight Connector 4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12600">
            <a:solidFill>
              <a:schemeClr val="accent1"/>
            </a:solidFill>
            <a:miter/>
          </a:ln>
        </p:spPr>
      </p:cxnSp>
      <p:cxnSp>
        <p:nvCxnSpPr>
          <p:cNvPr id="224" name="Straight Connector 5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12600">
            <a:solidFill>
              <a:schemeClr val="accent1"/>
            </a:solidFill>
            <a:miter/>
          </a:ln>
        </p:spPr>
      </p:cxnSp>
      <p:cxnSp>
        <p:nvCxnSpPr>
          <p:cNvPr id="225" name="Straight Connector 6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12600">
            <a:solidFill>
              <a:schemeClr val="accent1"/>
            </a:solidFill>
            <a:miter/>
          </a:ln>
        </p:spPr>
      </p:cxnSp>
      <p:cxnSp>
        <p:nvCxnSpPr>
          <p:cNvPr id="226" name="Straight Connector 7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12600">
            <a:solidFill>
              <a:schemeClr val="accent1"/>
            </a:solidFill>
            <a:miter/>
          </a:ln>
        </p:spPr>
      </p:cxnSp>
      <p:sp>
        <p:nvSpPr>
          <p:cNvPr id="227" name="Rectangle 1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90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247ABFEF-CC80-4460-BABF-5F51B82B4D6B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6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anchorCtr="1">
            <a:normAutofit/>
          </a:bodyPr>
          <a:lstStyle/>
          <a:p>
            <a:pPr marL="432000" indent="0" algn="ctr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500kB file → boring</a:t>
            </a:r>
          </a:p>
          <a:p>
            <a:pPr marL="432000" indent="0" algn="ctr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1MB file → easy</a:t>
            </a:r>
          </a:p>
          <a:p>
            <a:pPr marL="432000" indent="0" algn="ctr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100MB file → it gets interesting</a:t>
            </a:r>
          </a:p>
          <a:p>
            <a:pPr marL="432000" indent="0" algn="ctr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1GB file → RAM becomes a liability</a:t>
            </a:r>
          </a:p>
          <a:p>
            <a:pPr marL="432000" indent="0" algn="ctr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3GB file → "</a:t>
            </a:r>
            <a:r>
              <a:rPr lang="en-US" sz="3600" b="1" u="sng" strike="noStrike">
                <a:solidFill>
                  <a:schemeClr val="dk1"/>
                </a:solidFill>
                <a:effectLst/>
                <a:uFillTx/>
                <a:latin typeface="Calibri"/>
              </a:rPr>
              <a:t>Behemoth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"</a:t>
            </a:r>
          </a:p>
          <a:p>
            <a:pPr marL="432000" indent="0" algn="ctr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(possible, but rarely seen)</a:t>
            </a:r>
          </a:p>
        </p:txBody>
      </p:sp>
      <p:sp>
        <p:nvSpPr>
          <p:cNvPr id="229" name="PlaceHolder 2"/>
          <p:cNvSpPr>
            <a:spLocks noGrp="1"/>
          </p:cNvSpPr>
          <p:nvPr>
            <p:ph type="title"/>
          </p:nvPr>
        </p:nvSpPr>
        <p:spPr>
          <a:xfrm>
            <a:off x="838080" y="36540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Will It Scale?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Different Parsing Mindsets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DOM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Load whole structure into memory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SAX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 through content, callbacks to caller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StAX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 through content by pulling tokens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...</a:t>
            </a:r>
          </a:p>
        </p:txBody>
      </p:sp>
      <p:cxnSp>
        <p:nvCxnSpPr>
          <p:cNvPr id="232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33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34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35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36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DF1C746-A026-4813-AA56-9E6062071123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7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...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DOM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Load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whole structure into memory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SAX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 through content, </a:t>
            </a:r>
            <a:r>
              <a:rPr lang="en-US" sz="2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callbacks to caller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StAX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 through content by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pulling tokens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...</a:t>
            </a:r>
          </a:p>
        </p:txBody>
      </p:sp>
      <p:cxnSp>
        <p:nvCxnSpPr>
          <p:cNvPr id="239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40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41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42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43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F22D617C-59A1-40F3-86DB-9591960681A2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8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Memory Winners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45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46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47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48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49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19DB1E59-E89B-48A6-9471-11B36436F9A1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9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Picture 249"/>
          <p:cNvPicPr/>
          <p:nvPr/>
        </p:nvPicPr>
        <p:blipFill>
          <a:blip r:embed="rId3"/>
          <a:stretch/>
        </p:blipFill>
        <p:spPr>
          <a:xfrm>
            <a:off x="800280" y="20520"/>
            <a:ext cx="9734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Rectangle 250"/>
          <p:cNvSpPr/>
          <p:nvPr/>
        </p:nvSpPr>
        <p:spPr>
          <a:xfrm>
            <a:off x="4644000" y="1107000"/>
            <a:ext cx="457200" cy="14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53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54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55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56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39A7E404-3449-43B9-819A-39D5354CD451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10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56"/>
          <p:cNvPicPr/>
          <p:nvPr/>
        </p:nvPicPr>
        <p:blipFill>
          <a:blip r:embed="rId3"/>
          <a:stretch/>
        </p:blipFill>
        <p:spPr>
          <a:xfrm>
            <a:off x="800280" y="20880"/>
            <a:ext cx="9734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Rectangle 257"/>
          <p:cNvSpPr/>
          <p:nvPr/>
        </p:nvSpPr>
        <p:spPr>
          <a:xfrm>
            <a:off x="6629400" y="1828800"/>
            <a:ext cx="228600" cy="434340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258"/>
          <p:cNvSpPr/>
          <p:nvPr/>
        </p:nvSpPr>
        <p:spPr>
          <a:xfrm>
            <a:off x="1828800" y="5257800"/>
            <a:ext cx="4800600" cy="228600"/>
          </a:xfrm>
          <a:prstGeom prst="rect">
            <a:avLst/>
          </a:prstGeom>
          <a:solidFill>
            <a:srgbClr val="FF4000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259"/>
          <p:cNvSpPr/>
          <p:nvPr/>
        </p:nvSpPr>
        <p:spPr>
          <a:xfrm>
            <a:off x="7086600" y="1828800"/>
            <a:ext cx="3200400" cy="43434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1828800" y="1828800"/>
            <a:ext cx="4572000" cy="32004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261"/>
          <p:cNvSpPr/>
          <p:nvPr/>
        </p:nvSpPr>
        <p:spPr>
          <a:xfrm>
            <a:off x="1600200" y="601200"/>
            <a:ext cx="3429000" cy="2286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262"/>
          <p:cNvSpPr/>
          <p:nvPr/>
        </p:nvSpPr>
        <p:spPr>
          <a:xfrm>
            <a:off x="5113800" y="365040"/>
            <a:ext cx="5401800" cy="2286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263"/>
          <p:cNvSpPr/>
          <p:nvPr/>
        </p:nvSpPr>
        <p:spPr>
          <a:xfrm>
            <a:off x="8530200" y="601560"/>
            <a:ext cx="1985400" cy="2286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264"/>
          <p:cNvSpPr/>
          <p:nvPr/>
        </p:nvSpPr>
        <p:spPr>
          <a:xfrm>
            <a:off x="1600560" y="1285560"/>
            <a:ext cx="8915040" cy="2286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265"/>
          <p:cNvSpPr/>
          <p:nvPr/>
        </p:nvSpPr>
        <p:spPr>
          <a:xfrm>
            <a:off x="1600560" y="1501560"/>
            <a:ext cx="3429000" cy="2286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5137200" y="1056960"/>
            <a:ext cx="1600200" cy="2286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8530560" y="1069920"/>
            <a:ext cx="1985400" cy="228600"/>
          </a:xfrm>
          <a:prstGeom prst="rect">
            <a:avLst/>
          </a:prstGeom>
          <a:blipFill rotWithShape="0">
            <a:blip r:embed="rId4"/>
            <a:srcRect/>
            <a:tile tx="0" ty="0" sx="100000" sy="100000" algn="ctr"/>
          </a:blip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4644000" y="1107000"/>
            <a:ext cx="457200" cy="14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Throughput Leaders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71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72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73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74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75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D97446AA-497C-4F1A-87A2-8C9FDBE57F30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11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6" name="Picture 275"/>
          <p:cNvPicPr/>
          <p:nvPr/>
        </p:nvPicPr>
        <p:blipFill>
          <a:blip r:embed="rId3"/>
          <a:stretch/>
        </p:blipFill>
        <p:spPr>
          <a:xfrm>
            <a:off x="1268280" y="1407600"/>
            <a:ext cx="9734040" cy="5457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PowerShell Surprise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78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79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80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81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82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DAB7C9D5-FDB4-48B7-8601-8260D11A86ED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12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82"/>
          <p:cNvPicPr/>
          <p:nvPr/>
        </p:nvPicPr>
        <p:blipFill>
          <a:blip r:embed="rId3"/>
          <a:stretch/>
        </p:blipFill>
        <p:spPr>
          <a:xfrm>
            <a:off x="1143000" y="1305000"/>
            <a:ext cx="9829800" cy="555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Rectangle 283"/>
          <p:cNvSpPr/>
          <p:nvPr/>
        </p:nvSpPr>
        <p:spPr>
          <a:xfrm>
            <a:off x="8422200" y="1828800"/>
            <a:ext cx="457200" cy="14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86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87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88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89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EE294BC8-BA47-4CAC-9FAA-297FEBE9A251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13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89"/>
          <p:cNvPicPr/>
          <p:nvPr/>
        </p:nvPicPr>
        <p:blipFill>
          <a:blip r:embed="rId3"/>
          <a:stretch/>
        </p:blipFill>
        <p:spPr>
          <a:xfrm>
            <a:off x="477720" y="786960"/>
            <a:ext cx="10266480" cy="528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...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92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93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94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295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296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754E087A-0341-443E-AE64-6267F0D34042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14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7" name="Picture 296"/>
          <p:cNvPicPr/>
          <p:nvPr/>
        </p:nvPicPr>
        <p:blipFill>
          <a:blip r:embed="rId3"/>
          <a:stretch/>
        </p:blipFill>
        <p:spPr>
          <a:xfrm>
            <a:off x="457200" y="1564200"/>
            <a:ext cx="10653120" cy="4100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Convenience Wins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[xml] (Get-Content -Raw …)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one-shot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small files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startup &gt; execution time</a:t>
            </a:r>
          </a:p>
        </p:txBody>
      </p:sp>
      <p:cxnSp>
        <p:nvCxnSpPr>
          <p:cNvPr id="300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01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02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03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304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69AEF609-41E1-4C59-A94F-E483374141D3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15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Picture 304"/>
          <p:cNvPicPr/>
          <p:nvPr/>
        </p:nvPicPr>
        <p:blipFill>
          <a:blip r:embed="rId3"/>
          <a:stretch/>
        </p:blipFill>
        <p:spPr>
          <a:xfrm>
            <a:off x="7285320" y="1587600"/>
            <a:ext cx="4574880" cy="4574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PowerShell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Myth: PowerShell performance bad :-(</a:t>
            </a: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Reality: Actually pretty competitive :-)</a:t>
            </a:r>
          </a:p>
        </p:txBody>
      </p:sp>
      <p:cxnSp>
        <p:nvCxnSpPr>
          <p:cNvPr id="308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09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10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11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312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F9B4755A-E8AF-4494-A7C3-07529023BE9D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16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If it’s slow...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3657600" y="1825560"/>
            <a:ext cx="76957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… it’s most likely on you :-)</a:t>
            </a:r>
          </a:p>
        </p:txBody>
      </p:sp>
      <p:cxnSp>
        <p:nvCxnSpPr>
          <p:cNvPr id="315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16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17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18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319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252F1C4E-3D61-4E7A-B2FA-FC15BE17FFF8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17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Picture 319"/>
          <p:cNvPicPr/>
          <p:nvPr/>
        </p:nvPicPr>
        <p:blipFill>
          <a:blip r:embed="rId3"/>
          <a:srcRect l="30916" t="26616" r="22412" b="9980"/>
          <a:stretch/>
        </p:blipFill>
        <p:spPr>
          <a:xfrm>
            <a:off x="457560" y="1798200"/>
            <a:ext cx="3200040" cy="43473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Pick Your Bottleneck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Speed</a:t>
            </a: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Memory</a:t>
            </a: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Implementation overhead?</a:t>
            </a:r>
          </a:p>
        </p:txBody>
      </p:sp>
      <p:cxnSp>
        <p:nvCxnSpPr>
          <p:cNvPr id="323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24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25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26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327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5CC1E30B-D4E2-4350-9105-F0077539C2E6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18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Call For Action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Benchmark one real XML processing task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 + Size =&gt; Throughput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Memory consumption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1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Does it (need to) scale?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330" name="Straight Connector 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31" name="Straight Connector 9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32" name="Straight Connector 10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33" name="Straight Connector 11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334" name="Rectangle 12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C9730967-1B8F-40D5-AE3D-A939B7D63FD3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19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000"/>
    </mc:Choice>
    <mc:Fallback xmlns="" xmlns:p15="http://schemas.microsoft.com/office/powerpoint/2012/main">
      <p:transition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1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2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3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Picture 334"/>
          <p:cNvPicPr/>
          <p:nvPr/>
        </p:nvPicPr>
        <p:blipFill>
          <a:blip r:embed="rId3"/>
          <a:stretch/>
        </p:blipFill>
        <p:spPr>
          <a:xfrm>
            <a:off x="3573000" y="1371600"/>
            <a:ext cx="7196400" cy="342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7329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Thank You!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838080" y="3043800"/>
            <a:ext cx="10515240" cy="320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20000"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That’s it from my side,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800"/>
            </a:br>
            <a:br>
              <a:rPr sz="2800"/>
            </a:b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data + code</a:t>
            </a: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  <a:hlinkClick r:id="rId4"/>
              </a:rPr>
              <a:t>github.com/mwallner/xml-i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  <a:hlinkClick r:id="rId5"/>
              </a:rPr>
              <a:t>github.com/mwallner/PSQuickXml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br>
              <a:rPr sz="2800"/>
            </a:b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338" name="Straight Connector 13"/>
          <p:cNvCxnSpPr/>
          <p:nvPr/>
        </p:nvCxnSpPr>
        <p:spPr>
          <a:xfrm>
            <a:off x="10656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39" name="Straight Connector 14"/>
          <p:cNvCxnSpPr/>
          <p:nvPr/>
        </p:nvCxnSpPr>
        <p:spPr>
          <a:xfrm flipH="1">
            <a:off x="107640" y="638640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40" name="Straight Connector 15"/>
          <p:cNvCxnSpPr/>
          <p:nvPr/>
        </p:nvCxnSpPr>
        <p:spPr>
          <a:xfrm flipH="1">
            <a:off x="107640" y="6676920"/>
            <a:ext cx="623160" cy="36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cxnSp>
        <p:nvCxnSpPr>
          <p:cNvPr id="341" name="Straight Connector 16"/>
          <p:cNvCxnSpPr/>
          <p:nvPr/>
        </p:nvCxnSpPr>
        <p:spPr>
          <a:xfrm>
            <a:off x="730440" y="6386400"/>
            <a:ext cx="360" cy="290880"/>
          </a:xfrm>
          <a:prstGeom prst="straightConnector1">
            <a:avLst/>
          </a:prstGeom>
          <a:ln w="6480">
            <a:solidFill>
              <a:schemeClr val="accent1"/>
            </a:solidFill>
            <a:miter/>
          </a:ln>
        </p:spPr>
      </p:cxnSp>
      <p:sp>
        <p:nvSpPr>
          <p:cNvPr id="342" name="Rectangle 17"/>
          <p:cNvSpPr/>
          <p:nvPr/>
        </p:nvSpPr>
        <p:spPr>
          <a:xfrm>
            <a:off x="106920" y="6353280"/>
            <a:ext cx="623520" cy="3567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63B9D971-9619-4CA3-BA12-1D1789437370}" type="slidenum"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20</a:t>
            </a:fld>
            <a:r>
              <a:rPr lang="en-GB" sz="1200" b="0" u="none" strike="noStrike">
                <a:solidFill>
                  <a:srgbClr val="346296"/>
                </a:solidFill>
                <a:effectLst/>
                <a:uFillTx/>
                <a:latin typeface="Segoe UI Light"/>
              </a:rPr>
              <a:t> / 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lank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peaker's slid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Content">
  <a:themeElements>
    <a:clrScheme name="PSConf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446</Words>
  <Application>Microsoft Office PowerPoint</Application>
  <PresentationFormat>Breitbild</PresentationFormat>
  <Paragraphs>133</Paragraphs>
  <Slides>21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15</vt:i4>
      </vt:variant>
      <vt:variant>
        <vt:lpstr>Folientitel</vt:lpstr>
      </vt:variant>
      <vt:variant>
        <vt:i4>21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Liberation Mono;Courier New</vt:lpstr>
      <vt:lpstr>Segoe UI Light</vt:lpstr>
      <vt:lpstr>Stencil</vt:lpstr>
      <vt:lpstr>Symbol</vt:lpstr>
      <vt:lpstr>Times New Roman</vt:lpstr>
      <vt:lpstr>Wingdings</vt:lpstr>
      <vt:lpstr>Blank</vt:lpstr>
      <vt:lpstr>Blank</vt:lpstr>
      <vt:lpstr>Blank</vt:lpstr>
      <vt:lpstr>Blank</vt:lpstr>
      <vt:lpstr>Speaker's slide</vt:lpstr>
      <vt:lpstr>Content</vt:lpstr>
      <vt:lpstr>Content</vt:lpstr>
      <vt:lpstr>Content</vt:lpstr>
      <vt:lpstr>Content</vt:lpstr>
      <vt:lpstr>Content</vt:lpstr>
      <vt:lpstr>Content</vt:lpstr>
      <vt:lpstr>Content</vt:lpstr>
      <vt:lpstr>Content</vt:lpstr>
      <vt:lpstr>Content</vt:lpstr>
      <vt:lpstr>Content</vt:lpstr>
      <vt:lpstr>How hard can it be to count a few XML nodes?</vt:lpstr>
      <vt:lpstr>Performance Myth-Busting</vt:lpstr>
      <vt:lpstr>Why I Care</vt:lpstr>
      <vt:lpstr>Same CLI, Many Implementations</vt:lpstr>
      <vt:lpstr>The “alien” Folder</vt:lpstr>
      <vt:lpstr>Benchmarking</vt:lpstr>
      <vt:lpstr>Will It Scale?</vt:lpstr>
      <vt:lpstr>Different Parsing Mindsets</vt:lpstr>
      <vt:lpstr>...</vt:lpstr>
      <vt:lpstr>Memory Winners</vt:lpstr>
      <vt:lpstr>PowerPoint-Präsentation</vt:lpstr>
      <vt:lpstr>Throughput Leaders</vt:lpstr>
      <vt:lpstr>PowerShell Surprise</vt:lpstr>
      <vt:lpstr>PowerPoint-Präsentation</vt:lpstr>
      <vt:lpstr>...</vt:lpstr>
      <vt:lpstr>Convenience Wins</vt:lpstr>
      <vt:lpstr>PowerShell</vt:lpstr>
      <vt:lpstr>If it’s slow...</vt:lpstr>
      <vt:lpstr>Pick Your Bottleneck</vt:lpstr>
      <vt:lpstr>Call For Action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</cp:revision>
  <dcterms:created xsi:type="dcterms:W3CDTF">2026-07-06T15:01:16Z</dcterms:created>
  <dcterms:modified xsi:type="dcterms:W3CDTF">2026-07-06T15:01:20Z</dcterms:modified>
  <dc:language/>
</cp:coreProperties>
</file>